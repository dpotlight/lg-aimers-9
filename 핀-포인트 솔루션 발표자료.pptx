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5" r:id="rId36"/>
    <p:sldId id="336" r:id="rId35"/>
    <p:sldId id="337" r:id="rId34"/>
    <p:sldId id="338" r:id="rId33"/>
    <p:sldId id="339" r:id="rId32"/>
    <p:sldId id="340" r:id="rId31"/>
    <p:sldId id="341" r:id="rId30"/>
    <p:sldId id="342" r:id="rId29"/>
    <p:sldId id="343" r:id="rId28"/>
    <p:sldId id="344" r:id="rId27"/>
    <p:sldId id="345" r:id="rId26"/>
    <p:sldId id="346" r:id="rId25"/>
    <p:sldId id="347" r:id="rId24"/>
    <p:sldId id="348" r:id="rId23"/>
    <p:sldId id="349" r:id="rId22"/>
    <p:sldId id="350" r:id="rId21"/>
    <p:sldId id="351" r:id="rId20"/>
    <p:sldId id="352" r:id="rId19"/>
    <p:sldId id="353" r:id="rId18"/>
    <p:sldId id="354" r:id="rId17"/>
    <p:sldId id="355" r:id="rId16"/>
    <p:sldId id="356" r:id="rId15"/>
    <p:sldId id="357" r:id="rId14"/>
    <p:sldId id="358" r:id="rId13"/>
    <p:sldId id="359" r:id="rId12"/>
    <p:sldId id="360" r:id="rId11"/>
    <p:sldId id="361" r:id="rId10"/>
    <p:sldId id="362" r:id="rId9"/>
    <p:sldId id="363" r:id="rId8"/>
    <p:sldId id="364" r:id="rId7"/>
    <p:sldId id="365" r:id="rId6"/>
    <p:sldId id="366" r:id="rId5"/>
    <p:sldId id="367" r:id="rId4"/>
    <p:sldId id="368" r:id="rId3"/>
    <p:sldId id="369" r:id="rId2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0.xml"/><Relationship Id="rId3" Type="http://schemas.openxmlformats.org/officeDocument/2006/relationships/slide" Target="slides/slide69.xml"/><Relationship Id="rId4" Type="http://schemas.openxmlformats.org/officeDocument/2006/relationships/slide" Target="slides/slide68.xml"/><Relationship Id="rId5" Type="http://schemas.openxmlformats.org/officeDocument/2006/relationships/slide" Target="slides/slide67.xml"/><Relationship Id="rId6" Type="http://schemas.openxmlformats.org/officeDocument/2006/relationships/slide" Target="slides/slide66.xml"/><Relationship Id="rId7" Type="http://schemas.openxmlformats.org/officeDocument/2006/relationships/slide" Target="slides/slide65.xml"/><Relationship Id="rId8" Type="http://schemas.openxmlformats.org/officeDocument/2006/relationships/slide" Target="slides/slide64.xml"/><Relationship Id="rId9" Type="http://schemas.openxmlformats.org/officeDocument/2006/relationships/slide" Target="slides/slide63.xml"/><Relationship Id="rId10" Type="http://schemas.openxmlformats.org/officeDocument/2006/relationships/slide" Target="slides/slide62.xml"/><Relationship Id="rId11" Type="http://schemas.openxmlformats.org/officeDocument/2006/relationships/slide" Target="slides/slide61.xml"/><Relationship Id="rId12" Type="http://schemas.openxmlformats.org/officeDocument/2006/relationships/slide" Target="slides/slide60.xml"/><Relationship Id="rId13" Type="http://schemas.openxmlformats.org/officeDocument/2006/relationships/slide" Target="slides/slide59.xml"/><Relationship Id="rId14" Type="http://schemas.openxmlformats.org/officeDocument/2006/relationships/slide" Target="slides/slide58.xml"/><Relationship Id="rId15" Type="http://schemas.openxmlformats.org/officeDocument/2006/relationships/slide" Target="slides/slide57.xml"/><Relationship Id="rId16" Type="http://schemas.openxmlformats.org/officeDocument/2006/relationships/slide" Target="slides/slide56.xml"/><Relationship Id="rId17" Type="http://schemas.openxmlformats.org/officeDocument/2006/relationships/slide" Target="slides/slide55.xml"/><Relationship Id="rId18" Type="http://schemas.openxmlformats.org/officeDocument/2006/relationships/slide" Target="slides/slide54.xml"/><Relationship Id="rId19" Type="http://schemas.openxmlformats.org/officeDocument/2006/relationships/slide" Target="slides/slide53.xml"/><Relationship Id="rId20" Type="http://schemas.openxmlformats.org/officeDocument/2006/relationships/slide" Target="slides/slide52.xml"/><Relationship Id="rId21" Type="http://schemas.openxmlformats.org/officeDocument/2006/relationships/slide" Target="slides/slide51.xml"/><Relationship Id="rId22" Type="http://schemas.openxmlformats.org/officeDocument/2006/relationships/slide" Target="slides/slide50.xml"/><Relationship Id="rId23" Type="http://schemas.openxmlformats.org/officeDocument/2006/relationships/slide" Target="slides/slide49.xml"/><Relationship Id="rId24" Type="http://schemas.openxmlformats.org/officeDocument/2006/relationships/slide" Target="slides/slide48.xml"/><Relationship Id="rId25" Type="http://schemas.openxmlformats.org/officeDocument/2006/relationships/slide" Target="slides/slide47.xml"/><Relationship Id="rId26" Type="http://schemas.openxmlformats.org/officeDocument/2006/relationships/slide" Target="slides/slide46.xml"/><Relationship Id="rId27" Type="http://schemas.openxmlformats.org/officeDocument/2006/relationships/slide" Target="slides/slide45.xml"/><Relationship Id="rId28" Type="http://schemas.openxmlformats.org/officeDocument/2006/relationships/slide" Target="slides/slide44.xml"/><Relationship Id="rId29" Type="http://schemas.openxmlformats.org/officeDocument/2006/relationships/slide" Target="slides/slide43.xml"/><Relationship Id="rId30" Type="http://schemas.openxmlformats.org/officeDocument/2006/relationships/slide" Target="slides/slide42.xml"/><Relationship Id="rId31" Type="http://schemas.openxmlformats.org/officeDocument/2006/relationships/slide" Target="slides/slide41.xml"/><Relationship Id="rId32" Type="http://schemas.openxmlformats.org/officeDocument/2006/relationships/slide" Target="slides/slide40.xml"/><Relationship Id="rId33" Type="http://schemas.openxmlformats.org/officeDocument/2006/relationships/slide" Target="slides/slide39.xml"/><Relationship Id="rId34" Type="http://schemas.openxmlformats.org/officeDocument/2006/relationships/slide" Target="slides/slide38.xml"/><Relationship Id="rId35" Type="http://schemas.openxmlformats.org/officeDocument/2006/relationships/slide" Target="slides/slide37.xml"/><Relationship Id="rId36" Type="http://schemas.openxmlformats.org/officeDocument/2006/relationships/slide" Target="slides/slide36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CSOS Lab Descriptor"/>
          <p:cNvSpPr txBox="1"/>
          <p:nvPr userDrawn="1"/>
        </p:nvSpPr>
        <p:spPr>
          <a:xfrm>
            <a:off x="8986723" y="612688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C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omputer </a:t>
            </a:r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ecurity &amp; </a:t>
            </a:r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perating </a:t>
            </a:r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ystem Lab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바탕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간지 바탕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ku-pattern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01" name="CSOS Lab Footer"/>
          <p:cNvSpPr txBox="1"/>
          <p:nvPr userDrawn="1"/>
        </p:nvSpPr>
        <p:spPr>
          <a:xfrm>
            <a:off x="310896" y="641908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C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omputer </a:t>
            </a:r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ecurity &amp; </a:t>
            </a:r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perating </a:t>
            </a:r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ystem Lab</a:t>
            </a:r>
          </a:p>
        </p:txBody>
      </p:sp>
      <p:sp>
        <p:nvSpPr>
          <p:cNvPr id="903" name="Page Number"/>
          <p:cNvSpPr txBox="1"/>
          <p:nvPr userDrawn="1"/>
        </p:nvSpPr>
        <p:spPr>
          <a:xfrm>
            <a:off x="11240719" y="64190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A1B2C3D4-0000-4000-8000-000000001003}" type="slidenum">
              <a:rPr lang="en-US" sz="1100" b="1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>2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마무리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ku-pattern-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03" name="Page Number"/>
          <p:cNvSpPr txBox="1"/>
          <p:nvPr userDrawn="1"/>
        </p:nvSpPr>
        <p:spPr>
          <a:xfrm>
            <a:off x="11240719" y="64190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A1B2C3D4-0000-4000-8000-000000001004}" type="slidenum">
              <a:rPr lang="en-US" sz="1100" b="1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>2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· 제목+중제목+내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장 이름</a:t>
            </a:r>
            <a:endParaRPr lang="en-US" sz="10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대제목을 입력하세요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261872"/>
            <a:ext cx="1072865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중제목을 입력하세요</a:t>
            </a:r>
            <a:endParaRPr lang="en-US" sz="15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1755648"/>
            <a:ext cx="10728655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본문을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· 제목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장 이름</a:t>
            </a:r>
            <a:endParaRPr lang="en-US" sz="10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대제목을 입력하세요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389888"/>
            <a:ext cx="10728655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내용을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· 2단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장 이름</a:t>
            </a:r>
            <a:endParaRPr lang="en-US" sz="10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대제목을 입력하세요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261872"/>
            <a:ext cx="1072865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중제목을 입력하세요</a:t>
            </a:r>
            <a:endParaRPr lang="en-US" sz="15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1755648"/>
            <a:ext cx="4952848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왼쪽 내용</a:t>
            </a:r>
            <a:endParaRPr lang="en-US" sz="1300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6507328" y="1755648"/>
            <a:ext cx="4952848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오른쪽 내용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· 사진과 설명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장 이름</a:t>
            </a:r>
            <a:endParaRPr lang="en-US" sz="10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대제목을 입력하세요</a:t>
            </a:r>
            <a:endParaRPr lang="en-US" sz="2600" dirty="0"/>
          </a:p>
        </p:txBody>
      </p:sp>
      <p:sp>
        <p:nvSpPr>
          <p:cNvPr id="4" name="Shape 0"/>
          <p:cNvSpPr/>
          <p:nvPr/>
        </p:nvSpPr>
        <p:spPr>
          <a:xfrm>
            <a:off x="731520" y="1389888"/>
            <a:ext cx="69494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5" name="Text 1"/>
          <p:cNvSpPr txBox="1"/>
          <p:nvPr>
            <p:ph idx="103" type="body" hasCustomPrompt="1"/>
          </p:nvPr>
        </p:nvSpPr>
        <p:spPr>
          <a:xfrm>
            <a:off x="731520" y="5138928"/>
            <a:ext cx="6949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그림 0  캡션을 적습니다</a:t>
            </a:r>
            <a:endParaRPr lang="en-US" sz="10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8046720" y="1389888"/>
            <a:ext cx="341345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000"/>
              </a:lnSpc>
              <a:buNone/>
              <a:def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그림 설명을 적습니다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간지 · 장 구분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ku-pattern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0"/>
          <p:cNvSpPr txBox="1"/>
          <p:nvPr>
            <p:ph idx="102" type="title" hasCustomPrompt="1"/>
          </p:nvPr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 제목</a:t>
            </a:r>
            <a:endParaRPr lang="en-US" sz="34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장에서 다룰 내용을 한 문장으로</a:t>
            </a:r>
            <a:endParaRPr lang="en-US" sz="1400" dirty="0"/>
          </a:p>
        </p:txBody>
      </p:sp>
      <p:sp>
        <p:nvSpPr>
          <p:cNvPr id="901" name="CSOS Lab Footer"/>
          <p:cNvSpPr txBox="1"/>
          <p:nvPr userDrawn="1"/>
        </p:nvSpPr>
        <p:spPr>
          <a:xfrm>
            <a:off x="310896" y="641908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C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omputer </a:t>
            </a:r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ecurity &amp; </a:t>
            </a:r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perating </a:t>
            </a:r>
            <a:r>
              <a:rPr lang="en-US" sz="900" b="1" kern="0" dirty="0">
                <a:solidFill>
                  <a:srgbClr val="FFFFFF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ystem Lab</a:t>
            </a:r>
          </a:p>
        </p:txBody>
      </p:sp>
      <p:sp>
        <p:nvSpPr>
          <p:cNvPr id="903" name="Page Number"/>
          <p:cNvSpPr txBox="1"/>
          <p:nvPr userDrawn="1"/>
        </p:nvSpPr>
        <p:spPr>
          <a:xfrm>
            <a:off x="11240719" y="64190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A1B2C3D4-0000-4000-8000-000000001002}" type="slidenum">
              <a:rPr lang="en-US" sz="1100" b="1" kern="0" dirty="0">
                <a:solidFill>
                  <a:srgbClr val="7C93AD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>2</a:t>
            </a:fld>
            <a:endParaRPr lang="en-US" sz="11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CSOS Lab Footer"/>
          <p:cNvSpPr txBox="1"/>
          <p:nvPr userDrawn="1"/>
        </p:nvSpPr>
        <p:spPr>
          <a:xfrm>
            <a:off x="310896" y="641908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C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omputer </a:t>
            </a:r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ecurity &amp; </a:t>
            </a:r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O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perating </a:t>
            </a:r>
            <a:r>
              <a:rPr lang="en-US" sz="900" b="1" kern="0" dirty="0">
                <a:solidFill>
                  <a:srgbClr val="102A43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S</a:t>
            </a:r>
            <a:r>
              <a:rPr lang="en-US" sz="90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 xml:space="preserve">ystem Lab</a:t>
            </a:r>
          </a:p>
        </p:txBody>
      </p:sp>
      <p:sp>
        <p:nvSpPr>
          <p:cNvPr id="903" name="Page Number"/>
          <p:cNvSpPr txBox="1"/>
          <p:nvPr userDrawn="1"/>
        </p:nvSpPr>
        <p:spPr>
          <a:xfrm>
            <a:off x="11240719" y="64190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A1B2C3D4-0000-4000-8000-000000001001}" type="slidenum">
              <a:rPr lang="en-US" sz="1100" b="1" kern="0" dirty="0">
                <a:solidFill>
                  <a:srgbClr val="6B7785"/>
                </a:solidFill>
                <a:latin typeface="나눔고딕" pitchFamily="34" charset="0"/>
                <a:ea typeface="나눔고딕" pitchFamily="34" charset="0"/>
                <a:cs typeface="나눔고딕" pitchFamily="34" charset="0"/>
              </a:rPr>
              <a:t>2</a:t>
            </a:fld>
            <a:endParaRPr lang="en-US"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나눔고딕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나눔고딕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나눔고딕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나눔고딕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나눔고딕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나눔고딕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나눔고딕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나눔고딕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나눔고딕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298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투구 제구 성공 확률 예측 AI 온라인 해커톤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64208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LG Aimers 9기 Phase 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50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데이터를 읽는 방식으로 만든 제구 예측 파이프라인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346704"/>
            <a:ext cx="310896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529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팀    명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5295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핀-포인트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58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 표 자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안석현, 김도현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   속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187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단국대학교</a:t>
            </a:r>
            <a:endParaRPr lang="en-US" sz="1200" dirty="0"/>
          </a:p>
        </p:txBody>
      </p:sp>
      <p:pic>
        <p:nvPicPr>
          <p:cNvPr id="16" name="Image 0" descr="logo-tr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471" y="5687162"/>
            <a:ext cx="2203704" cy="384859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854135" y="5724144"/>
            <a:ext cx="0" cy="54864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pic>
        <p:nvPicPr>
          <p:cNvPr id="18" name="Image 1" descr="dku-signa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67" y="5755809"/>
            <a:ext cx="2770632" cy="485310"/>
          </a:xfrm>
          <a:prstGeom prst="rect">
            <a:avLst/>
          </a:prstGeom>
        </p:spPr>
      </p:pic>
      <p:pic>
        <p:nvPicPr>
          <p:cNvPr id="19" name="Picture 18" descr="lg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5848502"/>
            <a:ext cx="1901952" cy="30159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358384" y="5724144"/>
            <a:ext cx="0" cy="54864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653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865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대회와 데이터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31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· 지표 · 입력 컬럼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80060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8653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865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 설계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231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점수의 천장과 판정 기준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480060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27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14가지 판정 · 채택 축 상세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13632"/>
            <a:ext cx="480060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127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모델과 앙상블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4종 · 결합 · 보정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913632"/>
            <a:ext cx="480060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실험과 리더보드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고친 것 · 리더보드 · 점수 분해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175504"/>
            <a:ext cx="480060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정리와 남은 과제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5175504"/>
            <a:ext cx="480060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대회와 데이터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정의 · 평가 지표 · 입력 48컬럼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대회와 데이터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대회와 과제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456432"/>
        </p:xfrm>
        <a:graphic>
          <a:graphicData uri="http://schemas.openxmlformats.org/drawingml/2006/table">
            <a:tbl>
              <a:tblPr/>
              <a:tblGrid>
                <a:gridCol w="1645920"/>
                <a:gridCol w="907999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항목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내용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대회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LG Aimers 9기   투구 제구 성공 확률 예측 AI 온라인 해커톤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예측 대상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control_success   포수가 요구한 위치에 갔는가  (1 / 0)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입력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투구 직전 시점의 48개 컬럼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성공 확률 하나.  분류 라벨이 아닌 0 ~ 1 실수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지표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Score = max(0,  100000 × (1 − Brier / r(1−r)))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예측 원칙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각 행 독립 예측.  평가셋 안의 다른 행 참조 불가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핀-포인트   안석현, 김도현  (단국대학교)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성적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Private  1183.64482   ·   45개 선발팀 중 18위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1].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대회 개요와 과제 정의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0352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스트라이크 여부가 아니라 포수 미트가 있던 자리에 갔는가를 맞히는 문제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대회와 데이터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지표 해석</a:t>
            </a:r>
            <a:endParaRPr lang="en-US" sz="2600" dirty="0"/>
          </a:p>
        </p:txBody>
      </p:sp>
      <p:cxnSp>
        <p:nvCxnSpPr>
          <p:cNvPr id="4" name="Connector 3"/>
          <p:cNvCxnSpPr/>
          <p:nvPr/>
        </p:nvCxnSpPr>
        <p:spPr>
          <a:xfrm>
            <a:off x="731520" y="1325880"/>
            <a:ext cx="585216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7218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나눔고딕"/>
              </a:rPr>
              <a:t>Score = 100000 × ( 1 − 내 손해 / 기준 손해 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892807"/>
            <a:ext cx="585216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10312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2A43"/>
                </a:solidFill>
                <a:latin typeface="나눔고딕"/>
              </a:rPr>
              <a:t>기준 손해 = 모든 투구에 리그 평균 48.6% 만 답했을 때의 손해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50034"/>
                </a:solidFill>
                <a:latin typeface="나눔고딕"/>
              </a:rPr>
              <a:t>01   분류가 아닌 확률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34639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성공이냐 실패냐를 맞히는 게 아니라 몇 퍼센트인지를 맞히는 문제.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정확도를 올리는 최적화와 목표가 다릅니다.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291839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40156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50034"/>
                </a:solidFill>
                <a:latin typeface="나눔고딕"/>
              </a:rPr>
              <a:t>02   리그 평균이 0점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694176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모든 투구에 48.6% 만 답하면 0점.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행마다 다르게 말해야 비로소 점수가 납니다.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151376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261104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50034"/>
                </a:solidFill>
                <a:latin typeface="나눔고딕"/>
              </a:rPr>
              <a:t>03   과신의 대가는 제곱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55371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손해가 빗나간 거리의 제곱이라, 확실하지도 않은데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확률을 0 이나 1 쪽으로 밀면 틀렸을 때 크게 잃습니다.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010912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12064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50034"/>
                </a:solidFill>
                <a:latin typeface="나눔고딕"/>
              </a:rPr>
              <a:t>04   평균 보정만으로도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541324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그래서 실험 판정은 반드시 평균을 보정한 뒤에 했습니다.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보정 전 수치는 전부 착시로 봤습니다.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870448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23760" y="1325880"/>
            <a:ext cx="4233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점수 진행 경과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7556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리그 평균만 찍기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9751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02A43"/>
                </a:solidFill>
                <a:latin typeface="나눔고딕"/>
              </a:rPr>
              <a:t>아무 정보도 안 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773936"/>
            <a:ext cx="18288" cy="310896"/>
          </a:xfrm>
          <a:prstGeom prst="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705088" y="17922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나눔고딕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6700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첫 제출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8895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02A43"/>
                </a:solidFill>
                <a:latin typeface="나눔고딕"/>
              </a:rPr>
              <a:t>기본 모델만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688336"/>
            <a:ext cx="1274454" cy="310896"/>
          </a:xfrm>
          <a:prstGeom prst="rect">
            <a:avLst/>
          </a:prstGeom>
          <a:solidFill>
            <a:srgbClr val="F09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961254" y="27066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9CB2"/>
                </a:solidFill>
                <a:latin typeface="나눔고딕"/>
              </a:rPr>
              <a:t>562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5844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모델 · 피처 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8039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02A43"/>
                </a:solidFill>
                <a:latin typeface="나눔고딕"/>
              </a:rPr>
              <a:t>GBT 3종 + NN 30시드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3602736"/>
            <a:ext cx="2514892" cy="310896"/>
          </a:xfrm>
          <a:prstGeom prst="rect">
            <a:avLst/>
          </a:prstGeom>
          <a:solidFill>
            <a:srgbClr val="E86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201692" y="36210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607F"/>
                </a:solidFill>
                <a:latin typeface="나눔고딕"/>
              </a:rPr>
              <a:t>1,109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4988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최종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7183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02A43"/>
                </a:solidFill>
                <a:latin typeface="나눔고딕"/>
              </a:rPr>
              <a:t>보정 계층까지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4517136"/>
            <a:ext cx="2684971" cy="310896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1371771" y="45354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50034"/>
                </a:solidFill>
                <a:latin typeface="나눔고딕"/>
              </a:rPr>
              <a:t>1,184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23760" y="5047488"/>
            <a:ext cx="4233672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23760" y="5175504"/>
            <a:ext cx="4233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구간별 상승폭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431536"/>
            <a:ext cx="25402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기본 모델 구축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3963" y="5431536"/>
            <a:ext cx="16934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A50034"/>
                </a:solidFill>
                <a:latin typeface="나눔고딕"/>
              </a:rPr>
              <a:t>+562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3760" y="5696712"/>
            <a:ext cx="423367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23760" y="5660136"/>
            <a:ext cx="25402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피처 · 앙상블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3963" y="5660136"/>
            <a:ext cx="16934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A50034"/>
                </a:solidFill>
                <a:latin typeface="나눔고딕"/>
              </a:rPr>
              <a:t>+547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223760" y="5925312"/>
            <a:ext cx="423367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223760" y="5888736"/>
            <a:ext cx="25402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보정 계층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3963" y="5888736"/>
            <a:ext cx="16934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A50034"/>
                </a:solidFill>
                <a:latin typeface="나눔고딕"/>
              </a:rPr>
              <a:t>+74.76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23760" y="6153912"/>
            <a:ext cx="423367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1520" y="612648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1].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평가 지표에 대한 우리 팀의 해석과 현재 위치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대회와 데이터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제구 실패의 네 가지 유형</a:t>
            </a: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1188720" y="1783080"/>
            <a:ext cx="2103120" cy="2788920"/>
          </a:xfrm>
          <a:prstGeom prst="rect">
            <a:avLst/>
          </a:prstGeom>
          <a:noFill/>
          <a:ln w="1905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1889759" y="1783080"/>
            <a:ext cx="0" cy="278892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2712720"/>
            <a:ext cx="2103119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90799" y="1783080"/>
            <a:ext cx="0" cy="278892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3642360"/>
            <a:ext cx="2103119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14904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02A43"/>
                </a:solidFill>
                <a:latin typeface="나눔고딕"/>
              </a:rPr>
              <a:t>스트라이크 존</a:t>
            </a:r>
          </a:p>
        </p:txBody>
      </p:sp>
      <p:sp>
        <p:nvSpPr>
          <p:cNvPr id="10" name="Oval 9"/>
          <p:cNvSpPr/>
          <p:nvPr/>
        </p:nvSpPr>
        <p:spPr>
          <a:xfrm>
            <a:off x="1420368" y="3988307"/>
            <a:ext cx="237744" cy="237744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2000" y="46817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A50034"/>
                </a:solidFill>
                <a:latin typeface="나눔고딕"/>
              </a:rPr>
              <a:t>포수 요구 위치</a:t>
            </a:r>
          </a:p>
        </p:txBody>
      </p:sp>
      <p:sp>
        <p:nvSpPr>
          <p:cNvPr id="12" name="Oval 11"/>
          <p:cNvSpPr/>
          <p:nvPr/>
        </p:nvSpPr>
        <p:spPr>
          <a:xfrm>
            <a:off x="2840736" y="4006595"/>
            <a:ext cx="201168" cy="201168"/>
          </a:xfrm>
          <a:prstGeom prst="ellipse">
            <a:avLst/>
          </a:prstGeom>
          <a:noFill/>
          <a:ln w="12700">
            <a:solidFill>
              <a:srgbClr val="E86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1539240" y="4107179"/>
            <a:ext cx="1402080" cy="0"/>
          </a:xfrm>
          <a:prstGeom prst="line">
            <a:avLst/>
          </a:prstGeom>
          <a:ln w="15240">
            <a:solidFill>
              <a:srgbClr val="E86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75560" y="4271771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E8607F"/>
                </a:solidFill>
                <a:latin typeface="나눔고딕"/>
              </a:rPr>
              <a:t>reverse</a:t>
            </a:r>
          </a:p>
        </p:txBody>
      </p:sp>
      <p:sp>
        <p:nvSpPr>
          <p:cNvPr id="15" name="Oval 14"/>
          <p:cNvSpPr/>
          <p:nvPr/>
        </p:nvSpPr>
        <p:spPr>
          <a:xfrm>
            <a:off x="2139696" y="3076956"/>
            <a:ext cx="201168" cy="201168"/>
          </a:xfrm>
          <a:prstGeom prst="ellipse">
            <a:avLst/>
          </a:prstGeom>
          <a:noFill/>
          <a:ln w="12700">
            <a:solidFill>
              <a:srgbClr val="E86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16" name="Connector 15"/>
          <p:cNvCxnSpPr/>
          <p:nvPr/>
        </p:nvCxnSpPr>
        <p:spPr>
          <a:xfrm flipV="1">
            <a:off x="1539240" y="3177539"/>
            <a:ext cx="701040" cy="929640"/>
          </a:xfrm>
          <a:prstGeom prst="line">
            <a:avLst/>
          </a:prstGeom>
          <a:ln w="15240">
            <a:solidFill>
              <a:srgbClr val="E86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83080" y="28849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E8607F"/>
                </a:solidFill>
                <a:latin typeface="나눔고딕"/>
              </a:rPr>
              <a:t>middle</a:t>
            </a:r>
          </a:p>
        </p:txBody>
      </p:sp>
      <p:sp>
        <p:nvSpPr>
          <p:cNvPr id="18" name="Oval 17"/>
          <p:cNvSpPr/>
          <p:nvPr/>
        </p:nvSpPr>
        <p:spPr>
          <a:xfrm>
            <a:off x="3575303" y="4727448"/>
            <a:ext cx="201168" cy="201168"/>
          </a:xfrm>
          <a:prstGeom prst="ellipse">
            <a:avLst/>
          </a:prstGeom>
          <a:noFill/>
          <a:ln w="12700">
            <a:solidFill>
              <a:srgbClr val="8C9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19" name="Connector 18"/>
          <p:cNvCxnSpPr/>
          <p:nvPr/>
        </p:nvCxnSpPr>
        <p:spPr>
          <a:xfrm>
            <a:off x="1539240" y="4107179"/>
            <a:ext cx="2136647" cy="720853"/>
          </a:xfrm>
          <a:prstGeom prst="line">
            <a:avLst/>
          </a:prstGeom>
          <a:ln w="15240">
            <a:solidFill>
              <a:srgbClr val="8C9BA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54679" y="499262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wild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783080"/>
            <a:ext cx="868680" cy="1506016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5029200" y="2536088"/>
            <a:ext cx="109728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75504" y="24263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성공   54.0%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289096"/>
            <a:ext cx="868680" cy="504794"/>
          </a:xfrm>
          <a:prstGeom prst="rect">
            <a:avLst/>
          </a:prstGeom>
          <a:solidFill>
            <a:srgbClr val="E86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5029200" y="3541494"/>
            <a:ext cx="109728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75504" y="343176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reverse 만   18.1%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793891"/>
            <a:ext cx="868680" cy="295625"/>
          </a:xfrm>
          <a:prstGeom prst="rect">
            <a:avLst/>
          </a:prstGeom>
          <a:solidFill>
            <a:srgbClr val="F09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5029200" y="3941704"/>
            <a:ext cx="109728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75504" y="383197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middle 만   10.6%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4089516"/>
            <a:ext cx="868680" cy="94823"/>
          </a:xfrm>
          <a:prstGeom prst="rect">
            <a:avLst/>
          </a:prstGeom>
          <a:solidFill>
            <a:srgbClr val="F0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5029200" y="4136928"/>
            <a:ext cx="109728" cy="51664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75504" y="407886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둘 다   3.4%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184340"/>
            <a:ext cx="868680" cy="384870"/>
          </a:xfrm>
          <a:prstGeom prst="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5029200" y="4376775"/>
            <a:ext cx="109728" cy="58705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75504" y="432575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wild   13.8%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14904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나눔고딕"/>
              </a:rPr>
              <a:t>2024 정규시즌 구성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371600"/>
            <a:ext cx="4142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이 분해가 중요한 이유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1719072"/>
            <a:ext cx="4142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한 종류가 아닌 실패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1965960"/>
            <a:ext cx="41422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반대로 빠지는 투수와 가운데로 몰리는 투수는 다른 문제로 봤습니다.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0" y="2459736"/>
            <a:ext cx="41422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0" y="2560320"/>
            <a:ext cx="4142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투수마다 다른 붕괴 방식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807208"/>
            <a:ext cx="41422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같은 성공률 50% 라도 다음 공의 위험은 다르다고 봤습니다.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15200" y="3300984"/>
            <a:ext cx="41422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15200" y="3401568"/>
            <a:ext cx="4142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명세에 없던 유형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648456"/>
            <a:ext cx="41422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wild 13.8% 는 잔차로 역산했고 그중 83.1% 가 볼이었습니다.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15200" y="4142231"/>
            <a:ext cx="41422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00" y="4242816"/>
            <a:ext cx="4142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여기서 나온 피처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489704"/>
            <a:ext cx="41422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네 실패율을 함께 넣는 prate4 는 정규시즌 +8.19.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4983480"/>
            <a:ext cx="41422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31520" y="5532120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둘 다 = 반대 방향과 한가운데가 한 공에서 동시에,   wild = 존을 크게 벗어난 투구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4360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2].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포수 요구 위치 기준의 실패 유형과 2024 정규시즌 구성 비중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대회와 데이터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데이터와 입력 48컬럼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072384"/>
        </p:xfrm>
        <a:graphic>
          <a:graphicData uri="http://schemas.openxmlformats.org/drawingml/2006/table">
            <a:tbl>
              <a:tblPr/>
              <a:tblGrid>
                <a:gridCol w="1737360"/>
                <a:gridCol w="6309360"/>
                <a:gridCol w="731520"/>
                <a:gridCol w="194767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컬럼 그룹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내용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사용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식별 · 경기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row_id, season, game_month, dayofweek, inning, top_bottom, game_type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row_id 만 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카운트 · 점수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balls / strikes / outs_before, 득점 4종, 점수차 2종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주자 · 중요도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runner 3종, num_runners_on, base_state, 승리기대확률 2종, li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선수 · 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pitcher_id, batter_id, 좌우 2종, 소속 팀 2종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과거 이력 asof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통산 6종, 직전 1 · 3 · 5경기 6종, 타자 3종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구종 이력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pitchmix_n, 속구 / 변화구 / 체인지업 사용 비율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보조 파일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trackman_history 투구 추적 로그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2].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입력 컬럼의 구성과 학습 사용 여부.   ○ 학습 피처로 사용,   ✕ 사용하지 않음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19472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train 1,475,092행 (2019~2024)  ·  test 245,789행 (2025, 정답 비공개)  ·  trackman 1,793,078행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구종 이력 4종과 trackman 30컬럼은 링크해 만든 피처가 전부 점수를 떨어뜨려 배포에 넣지 않음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 설계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점수의 천장 · 리그 변화 · 판정 기준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전략 설계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접근 원칙 세 가지</a:t>
            </a:r>
            <a:endParaRPr lang="en-US" sz="2600" dirty="0"/>
          </a:p>
        </p:txBody>
      </p:sp>
      <p:cxnSp>
        <p:nvCxnSpPr>
          <p:cNvPr id="4" name="Connector 3"/>
          <p:cNvCxnSpPr/>
          <p:nvPr/>
        </p:nvCxnSpPr>
        <p:spPr>
          <a:xfrm>
            <a:off x="731520" y="1417320"/>
            <a:ext cx="3392424" cy="0"/>
          </a:xfrm>
          <a:prstGeom prst="line">
            <a:avLst/>
          </a:prstGeom>
          <a:ln w="2540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91056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A50034"/>
                </a:solidFill>
                <a:latin typeface="나눔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96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나눔고딕"/>
              </a:rPr>
              <a:t>점수의 정체부터 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보정이 문제인지 판별력이 문제인지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먼저 재고 방향을 정했습니다.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07407" y="1417320"/>
            <a:ext cx="3392424" cy="0"/>
          </a:xfrm>
          <a:prstGeom prst="line">
            <a:avLst/>
          </a:prstGeom>
          <a:ln w="2540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07407" y="1591056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A50034"/>
                </a:solidFill>
                <a:latin typeface="나눔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21396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나눔고딕"/>
              </a:rPr>
              <a:t>평균 보정 후에만 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Brier 는 평균만 맞춰도 오릅니다.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보정 전 수치는 전부 버렸습니다.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3296" y="1417320"/>
            <a:ext cx="3392424" cy="0"/>
          </a:xfrm>
          <a:prstGeom prst="line">
            <a:avLst/>
          </a:prstGeom>
          <a:ln w="2540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83296" y="1591056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A50034"/>
                </a:solidFill>
                <a:latin typeface="나눔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21396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나눔고딕"/>
              </a:rPr>
              <a:t>없는 값을 복원하는 축만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있는 값의 재조합은 13연속 음성.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복원 계열만 살아남았습니다.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3931920"/>
            <a:ext cx="10725912" cy="0"/>
          </a:xfrm>
          <a:prstGeom prst="line">
            <a:avLst/>
          </a:prstGeom>
          <a:ln w="952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114800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A50034"/>
                </a:solidFill>
                <a:latin typeface="나눔고딕"/>
              </a:rPr>
              <a:t>이 세 규칙을 지킨 결과, 리더보드 1108.88 이후의 상승분 +74.76 은 전부 보정과 복원에서 나왔고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A50034"/>
                </a:solidFill>
                <a:latin typeface="나눔고딕"/>
              </a:rPr>
              <a:t>GBT 3종과 NN 30시드는 그 기간 한 번도 다시 학습하지 않았습니다.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3].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실험을 시작하기 전에 정한 세 가지 판단 규칙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전략 설계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점수의 천장 진단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점수를 만드는 두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확률 눈금의 정확도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보정 오차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74650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102A43"/>
                </a:solidFill>
                <a:latin typeface="나눔고딕"/>
              </a:rPr>
              <a:t>이미 0.  더 짜낼 것 없음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103120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4086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행별 구분 능력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4086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판별력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5000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102A43"/>
                </a:solidFill>
                <a:latin typeface="나눔고딕"/>
              </a:rPr>
              <a:t>전체의 0.57% 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706624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7238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실제 크기로 그리면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46704"/>
            <a:ext cx="5669280" cy="420624"/>
          </a:xfrm>
          <a:prstGeom prst="rect">
            <a:avLst/>
          </a:prstGeom>
          <a:solidFill>
            <a:srgbClr val="E9EEF2"/>
          </a:solidFill>
          <a:ln w="12700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31520" y="3346704"/>
            <a:ext cx="32004" cy="42062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A50034"/>
                </a:solidFill>
                <a:latin typeface="나눔고딕"/>
              </a:rPr>
              <a:t>← 우리가 다툴 수 있는 범위로 본 구간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297680"/>
            <a:ext cx="5669280" cy="0"/>
          </a:xfrm>
          <a:prstGeom prst="line">
            <a:avLst/>
          </a:prstGeom>
          <a:ln w="190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4805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A50034"/>
                </a:solidFill>
                <a:latin typeface="나눔고딕"/>
              </a:rPr>
              <a:t>모델을 더 키워도 얻을 것이 거의 없다고 판단했습니다.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A50034"/>
                </a:solidFill>
                <a:latin typeface="나눔고딕"/>
              </a:rPr>
              <a:t>그래서 데이터에 없는 값을 되살리는 쪽으로 방향을 잡았습니다.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37160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후보를 만들기 전에 상한부터 계산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1700784"/>
            <a:ext cx="4416552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40880" y="184708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나눔고딕"/>
              </a:rPr>
              <a:t>최대 이득  ≈  98,861 × ρ²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2267712"/>
            <a:ext cx="4416552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0" y="246888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2A43"/>
                </a:solidFill>
                <a:latin typeface="나눔고딕"/>
              </a:rPr>
              <a:t>ρ = 새 후보와 현재 오차의 상관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871216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ρ = 0.005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0811" y="2871216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아무리 잘해도  +2.5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3136392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40880" y="3310128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ρ = 0.010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0811" y="3310128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아무리 잘해도  +9.9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40880" y="3575304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40880" y="3749039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ρ = 0.025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0811" y="3749039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아무리 잘해도  +61.8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014215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40880" y="4334256"/>
            <a:ext cx="4416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상관 0.005 인 후보에는 시간을 쓰지 않기로 정했습니다.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이 한 줄로 288개 후보를 만들기 전에 걸러냈습니다.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4].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점수를 만드는 두 요소의 실제 크기와 후보 선별 기준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전략 설계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2023년 이후 리그 변화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2304288"/>
        </p:xfrm>
        <a:graphic>
          <a:graphicData uri="http://schemas.openxmlformats.org/drawingml/2006/table">
            <a:tbl>
              <a:tblPr/>
              <a:tblGrid>
                <a:gridCol w="2103120"/>
                <a:gridCol w="4663440"/>
                <a:gridCol w="395935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확인한 것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무슨 뜻인가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시즌별 성공률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2019 .5647  →  2023 .5000  →  2024 .4861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해마다 낮아지고 2023 에서 크게 꺾임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추정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.4781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시즌은 학습한 어느 해와도 다름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과거와의 연결 강도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2022 +0.1399  →  2023 +0.0040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2023 에서 과거와의 연결이 거의 끊김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 를 맞히는 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2023 모델 425.3   /   2022 모델 −115.5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오래된 시즌 모델은 오히려 방해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2019 · 2020 추가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검증은 좋아졌는데 리더보드는 −3.02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데이터를 늘렸다가 손해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3].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2023년을 기점으로 리그가 달라졌다는 근거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151376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스트라이크 존 판정과 리그 환경이 바뀐 뒤로는 옛 시즌 데이터가 도움이 되지 않는다고 판단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전략 설계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설계와 채택 판정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시간 순서 분할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148840"/>
            <a:ext cx="4663440" cy="0"/>
          </a:xfrm>
          <a:prstGeom prst="line">
            <a:avLst/>
          </a:prstGeom>
          <a:ln w="15875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50392" y="2084832"/>
            <a:ext cx="128016" cy="128016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79" y="17465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50034"/>
                </a:solidFill>
                <a:latin typeface="나눔고딕"/>
              </a:rPr>
              <a:t>fold1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134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02A43"/>
                </a:solidFill>
                <a:latin typeface="나눔고딕"/>
              </a:rPr>
              <a:t>2021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32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02A43"/>
                </a:solidFill>
                <a:latin typeface="나눔고딕"/>
              </a:rPr>
              <a:t>2019~20 학습</a:t>
            </a:r>
          </a:p>
        </p:txBody>
      </p:sp>
      <p:sp>
        <p:nvSpPr>
          <p:cNvPr id="10" name="Oval 9"/>
          <p:cNvSpPr/>
          <p:nvPr/>
        </p:nvSpPr>
        <p:spPr>
          <a:xfrm>
            <a:off x="2404872" y="2084832"/>
            <a:ext cx="128016" cy="128016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17465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50034"/>
                </a:solidFill>
                <a:latin typeface="나눔고딕"/>
              </a:rPr>
              <a:t>fold2022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3134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02A43"/>
                </a:solidFill>
                <a:latin typeface="나눔고딕"/>
              </a:rPr>
              <a:t>2022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532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02A43"/>
                </a:solidFill>
                <a:latin typeface="나눔고딕"/>
              </a:rPr>
              <a:t>2019~21 학습</a:t>
            </a:r>
          </a:p>
        </p:txBody>
      </p:sp>
      <p:sp>
        <p:nvSpPr>
          <p:cNvPr id="14" name="Oval 13"/>
          <p:cNvSpPr/>
          <p:nvPr/>
        </p:nvSpPr>
        <p:spPr>
          <a:xfrm>
            <a:off x="3959352" y="2084832"/>
            <a:ext cx="128016" cy="128016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20440" y="17465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50034"/>
                </a:solidFill>
                <a:latin typeface="나눔고딕"/>
              </a:rPr>
              <a:t>fold4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134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02A43"/>
                </a:solidFill>
                <a:latin typeface="나눔고딕"/>
              </a:rPr>
              <a:t>2024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532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02A43"/>
                </a:solidFill>
                <a:latin typeface="나눔고딕"/>
              </a:rPr>
              <a:t>2019~23 학습</a:t>
            </a:r>
          </a:p>
        </p:txBody>
      </p:sp>
      <p:sp>
        <p:nvSpPr>
          <p:cNvPr id="18" name="Oval 17"/>
          <p:cNvSpPr/>
          <p:nvPr/>
        </p:nvSpPr>
        <p:spPr>
          <a:xfrm>
            <a:off x="5513831" y="2084832"/>
            <a:ext cx="128016" cy="128016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74920" y="17465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나눔고딕"/>
              </a:rPr>
              <a:t>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3134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02A43"/>
                </a:solidFill>
                <a:latin typeface="나눔고딕"/>
              </a:rPr>
              <a:t>2025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532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02A43"/>
                </a:solidFill>
                <a:latin typeface="나눔고딕"/>
              </a:rPr>
              <a:t>2019~24 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175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무작위로 자르면 같은 경기의 공이 학습과 검증에 섞입니다.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시즌 경계로 자르면 과거로 학습해 다음 시즌을 예측하는 실제 조건에 가깝다고 봤습니다.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채택 요건   네 관문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평균 보정 후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011679"/>
            <a:ext cx="4507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02A43"/>
                </a:solidFill>
                <a:latin typeface="나눔고딕"/>
              </a:rPr>
              <a:t>Brier 는 평균만 맞춰도 오름.  보정 전 +5.23 이 보정 후 −0.90 이 된 사례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2487168"/>
            <a:ext cx="50566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265176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51760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두 시즌 모두 양성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926079"/>
            <a:ext cx="4507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02A43"/>
                </a:solidFill>
                <a:latin typeface="나눔고딕"/>
              </a:rPr>
              <a:t>한 fold 에서만 오르면 기각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0" y="3401568"/>
            <a:ext cx="50566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0" y="356616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566160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위약 12회 대조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840480"/>
            <a:ext cx="4507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02A43"/>
                </a:solidFill>
                <a:latin typeface="나눔고딕"/>
              </a:rPr>
              <a:t>정보만 없앤 대조군과 비교.  +15.47 이 위약에서도 +8.98 이라 기각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0" y="4315968"/>
            <a:ext cx="50566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448056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480560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타 fold 전이 + 오라클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754880"/>
            <a:ext cx="4507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02A43"/>
                </a:solidFill>
                <a:latin typeface="나눔고딕"/>
              </a:rPr>
              <a:t>한 fold 에서 정한 계수를 얼려 다른 fold 에 적용.  상한이 낮으면 만들지 않고 기각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0" y="5230368"/>
            <a:ext cx="505663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562356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5].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시간 순서 분할 검증과 네 단계 채택 판정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14가지 판정 · 채택 축 상세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   채택 7건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072384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  <a:gridCol w="914400"/>
                <a:gridCol w="249631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야구적 근거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만든 것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판정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실측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올해 폼 ≠ 커리어 통산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올해 성적만 분리 (YTD 역분해)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fold4  +45.64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팀 번호에 순서가 없다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팀 ID OneHot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fold4  +33.75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상황별 성향은 시즌을 넘어 지속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× 상황 오프셋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+24.34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오늘 컨디션은 오늘 결과에 남는다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등판 내 폼 오프셋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+14.97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등판 길이가 보직을 가른다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분모 정수 복원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fold4  +8.41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무너지는 방식이 투수마다 다르다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실패 유형 4종 동시 투입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정규시즌  +8.19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공략 코스는 타자마다 다르다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타자 실투 피격률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155EA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fold4 · GBT3  +7.43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4].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검증을 통과한 야구 가설 일곱 가지.   ○ 채택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19472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공통점은 전부 데이터에 없던 값을 되살린 축.  이 가운데 네 축을 다음 장부터 하나씩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fold4 = 2019~2023 으로 학습해 2024 로 검증한 값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   기각 7건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072384"/>
        </p:xfrm>
        <a:graphic>
          <a:graphicData uri="http://schemas.openxmlformats.org/drawingml/2006/table">
            <a:tbl>
              <a:tblPr/>
              <a:tblGrid>
                <a:gridCol w="3200400"/>
                <a:gridCol w="2926080"/>
                <a:gridCol w="914400"/>
                <a:gridCol w="1645920"/>
                <a:gridCol w="203911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야구적 근거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만든 것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판정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실측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잘 던지는 구종이 있다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투수별 구종 성공률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−75.61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타깃 인코딩 누수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 타자에게 유독 약하다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× 타자 상대 전적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−228.82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표본 희소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구장마다 마운드가 다르다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구장 대리 변수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−195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매년 배정 변동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최근 데이터가 더 중요하다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최근 시즌 가중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−27 ~ −87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분산 손실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성공률은 단조 증가한다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단조 제약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−118.10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조건부로는 비단조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많이 던지면 지친다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등판 내 누적 투구 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+0.00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위약 수준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배합이 흔들리면 제구도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구종군 사용 비율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−4.08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배합은 시즌 내 안정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5].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검증에서 떨어진 야구 가설 일곱 가지.   ✕ 기각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19472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지표는 통했고 행동 지표(구종 선택)는 통하지 않음.  정보가 이미 asof 에 흡수된 것으로 판단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 ①   올해 성적만 떼어내기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주어진 컬럼은 데뷔부터 지금까지의 통산 누적 하나뿐입니다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4798771" cy="493776"/>
          </a:xfrm>
          <a:prstGeom prst="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나눔고딕"/>
              </a:rPr>
              <a:t>작년까지  (train 으로 이미 아는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0291" y="1627632"/>
            <a:ext cx="1053388" cy="493776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나눔고딕"/>
              </a:rPr>
              <a:t>올해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249424"/>
            <a:ext cx="4798771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30291" y="2249424"/>
            <a:ext cx="1053389" cy="0"/>
          </a:xfrm>
          <a:prstGeom prst="line">
            <a:avLst/>
          </a:prstGeom>
          <a:ln w="190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0428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통산 누적  =  주어진 컬럼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0428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A50034"/>
                </a:solidFill>
                <a:latin typeface="나눔고딕"/>
              </a:rPr>
              <a:t>이 부분만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올해분만 분리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980944"/>
            <a:ext cx="585216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127248"/>
            <a:ext cx="5852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102A43"/>
                </a:solidFill>
                <a:latin typeface="나눔고딕"/>
              </a:rPr>
              <a:t>올해 투구 수    =   통산 누적 투구 수   −   작년까지 누적 투구 수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02A43"/>
                </a:solidFill>
                <a:latin typeface="나눔고딕"/>
              </a:rPr>
              <a:t>올해 성공률     =  ( 통산 성공 수 − 작년까지 성공 수 )  ÷  올해 투구 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895344"/>
            <a:ext cx="585216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05993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작년까지의 누적은 train 으로 알고 있으니 빼기만 하면 됩니다.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비율에 누적 수를 곱하면 성공 개수가 정수로 복원됩니다.  정수근접률 100%.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YTD = Year To Date,  올해 시즌 시작부터 지금까지를 뜻하는 표기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298448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야구 관점의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27632"/>
            <a:ext cx="44165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8년차 투수의 통산 제구 성공률 52% 는 커리어 평균일 뿐입니다.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올해 폼이 무너졌는지 구위가 올라왔는지는 그 숫자에 묻힙니다.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누적 표본이 클수록 올해의 변화가 희석되기 때문입니다.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61488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만든 것과 실측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08960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투수의 올해 투구 수 · 성공률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0811" y="3108960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fold4  +45.64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3374136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0" y="3566160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타자의 올해 상대 투구 수 · 성공률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811" y="3566160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fold4  +6.05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3831335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40880" y="4023360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타자가 올해 맞은 실투 비율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0811" y="4023360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fold4 · GBT3  +7.43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40880" y="4288536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80" y="4663440"/>
            <a:ext cx="4416552" cy="0"/>
          </a:xfrm>
          <a:prstGeom prst="line">
            <a:avLst/>
          </a:prstGeom>
          <a:ln w="190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40880" y="4828032"/>
            <a:ext cx="4416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A50034"/>
                </a:solidFill>
                <a:latin typeface="나눔고딕"/>
              </a:rPr>
              <a:t>이 축 하나가 리더보드 1054 시점에 +45.64 를 만들었습니다.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A50034"/>
                </a:solidFill>
                <a:latin typeface="나눔고딕"/>
              </a:rPr>
              <a:t>측정한 학습 피처 축 가운데 가장 컸습니다.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6].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통산 누적에서 작년까지의 누적을 빼 올해 성적만 남기는 연산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 ②   분모 정수 복원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02A43"/>
                </a:solidFill>
                <a:latin typeface="나눔고딕"/>
              </a:rPr>
              <a:t>주어진 것은 비율 하나.   prev1_game_success_rate = 0.6667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02A43"/>
                </a:solidFill>
                <a:latin typeface="나눔고딕"/>
              </a:rPr>
              <a:t>분자와 분모가 모두 정수라, 이 비율을 만드는 (투구 수, 성공 수) 는 몇 개 없습니다.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5852160" cy="31089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후보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3432" y="2130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s = k × 0.6667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8184" y="2130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정수인가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2936" y="2130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다른 비율과 동시 성립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44144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2.000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44144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244144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✕  실투율과 불일치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2697479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7706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27706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4.000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7706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7706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✕  실투율과 불일치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026663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3232" y="3054095"/>
            <a:ext cx="32004" cy="27432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309981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나눔고딕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309981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나눔고딕"/>
              </a:rPr>
              <a:t>6.000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8184" y="309981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나눔고딕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309981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50034"/>
                </a:solidFill>
                <a:latin typeface="나눔고딕"/>
              </a:rPr>
              <a:t>○  세 비율이 동시 성립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3355847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34290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13432" y="34290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8.000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4" y="34290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34290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✕  등판 길이 초과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3685032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38404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2A43"/>
                </a:solidFill>
                <a:latin typeface="나눔고딕"/>
              </a:rPr>
              <a:t>prev1 · prev3 · prev5 의 성공률과 실투율을 연립으로 걸면 후보가 하나로 좁혀집니다.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37160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등판 길이가 중요한 이유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700784"/>
            <a:ext cx="44165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90구를 던진 선발과 12구를 던진 마무리를 같은 제구로 묶기는 어렵다고 봤습니다.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선발은 타순을 세 번 돌며 배합을 바꾸고, 불펜은 짧게 전력으로 던집니다.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비율만으로는 구분되지 않는데 분모를 복원하면 구분됩니다.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83464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만든 것과 실측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182112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prev1 / 3 / 5_n  등판 길이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0811" y="3182112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fold4  +8.41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40880" y="3447288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40880" y="3621024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라벨 복원 정수근접률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0811" y="3621024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100%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0880" y="3886200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40880" y="4059935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복원 실패로 남은 결측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811" y="4059935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0.11%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40880" y="4325112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1520" y="576072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7].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비율에서 정수 분모를 복원하는 절차 (후보 값은 설명용 예시)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 ③   실패 유형 프로파일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기존   성공률 하나만 전달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82496"/>
            <a:ext cx="2103120" cy="420624"/>
          </a:xfrm>
          <a:prstGeom prst="rect">
            <a:avLst/>
          </a:prstGeom>
          <a:noFill/>
          <a:ln w="12700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2A43"/>
                </a:solidFill>
                <a:latin typeface="나눔고딕"/>
              </a:rPr>
              <a:t>ytd_success_rate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71800" y="1819656"/>
            <a:ext cx="502920" cy="164592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611880" y="1682496"/>
            <a:ext cx="2240280" cy="420624"/>
          </a:xfrm>
          <a:prstGeom prst="rect">
            <a:avLst/>
          </a:prstGeom>
          <a:noFill/>
          <a:ln w="12700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2A43"/>
                </a:solidFill>
                <a:latin typeface="나눔고딕"/>
              </a:rPr>
              <a:t>"얼마나 실패하는가"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변경   네 가지 실패율을 동시에 전달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2103120" cy="347472"/>
          </a:xfrm>
          <a:prstGeom prst="rect">
            <a:avLst/>
          </a:prstGeom>
          <a:noFill/>
          <a:ln w="9525">
            <a:solidFill>
              <a:srgbClr val="A50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ytd_reverse_rate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8254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반대 방향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45536"/>
            <a:ext cx="2103120" cy="347472"/>
          </a:xfrm>
          <a:prstGeom prst="rect">
            <a:avLst/>
          </a:prstGeom>
          <a:noFill/>
          <a:ln w="9525">
            <a:solidFill>
              <a:srgbClr val="A50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ytd_middle_rate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2278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한가운데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47872"/>
            <a:ext cx="2103120" cy="347472"/>
          </a:xfrm>
          <a:prstGeom prst="rect">
            <a:avLst/>
          </a:prstGeom>
          <a:noFill/>
          <a:ln w="9525">
            <a:solidFill>
              <a:srgbClr val="A50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ytd_ball_rate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63016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50208"/>
            <a:ext cx="2103120" cy="347472"/>
          </a:xfrm>
          <a:prstGeom prst="rect">
            <a:avLst/>
          </a:prstGeom>
          <a:noFill/>
          <a:ln w="9525">
            <a:solidFill>
              <a:srgbClr val="A50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ytd_strike_rate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403250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스트라이크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3310128"/>
            <a:ext cx="502920" cy="164592"/>
          </a:xfrm>
          <a:prstGeom prst="rightArrow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663440" y="2962656"/>
            <a:ext cx="1965960" cy="841248"/>
          </a:xfrm>
          <a:prstGeom prst="rect">
            <a:avLst/>
          </a:prstGeom>
          <a:noFill/>
          <a:ln w="19050">
            <a:solidFill>
              <a:srgbClr val="A50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A50034"/>
                </a:solidFill>
                <a:latin typeface="나눔고딕"/>
              </a:rPr>
              <a:t>"어떻게 실패하는가"</a:t>
            </a:r>
          </a:p>
          <a:p>
            <a:pPr algn="ctr"/>
            <a:r>
              <a:rPr sz="900" b="1">
                <a:solidFill>
                  <a:srgbClr val="A50034"/>
                </a:solidFill>
                <a:latin typeface="나눔고딕"/>
              </a:rPr>
              <a:t>실패의 프로파일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2A43"/>
                </a:solidFill>
                <a:latin typeface="나눔고딕"/>
              </a:rPr>
              <a:t>네 비율은 배타적으로 분해되어 있어 하나만 넣으면 나머지 정보가 버려집니다.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prate4 = pitcher rate 4종.  투수의 올해 실패율 네 가지를 함께 넣은 축의 내부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야구 관점의 해석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719072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reverse 형 투수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965960"/>
            <a:ext cx="4416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요구한 쪽의 반대로 빠집니다. 릴리스가 흔들릴 때 나오는 패턴으로 읽었습니다.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880" y="2459736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40880" y="2633472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middle 형 투수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880360"/>
            <a:ext cx="4416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가운데로 몰립니다. 성공률이 같아도 장타 위험은 더 크다고 봤습니다.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374136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3547872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50034"/>
                </a:solidFill>
                <a:latin typeface="나눔고딕"/>
              </a:rPr>
              <a:t>wild 형 투수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794760"/>
            <a:ext cx="4416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존을 크게 벗어납니다. 볼넷과 폭투로 이어집니다.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40880" y="4288536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40880" y="4572000"/>
            <a:ext cx="4416552" cy="0"/>
          </a:xfrm>
          <a:prstGeom prst="line">
            <a:avLst/>
          </a:prstGeom>
          <a:ln w="190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40880" y="473659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실측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736592"/>
            <a:ext cx="2130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정규시즌  +8.19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8].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실패율 네 개를 동시에 투입해 실패의 방식까지 전달하는 구조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 ④   볼카운트별 난이도 상쇄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192024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1554480"/>
                <a:gridCol w="1554480"/>
                <a:gridCol w="1463040"/>
                <a:gridCol w="158191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볼카운트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성공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reverse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middle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둘 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wild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0-2   투수 절대 우위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49.19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15.02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11.74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2.42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21.44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3-0   투수 절대 열세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48.76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21.82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18.97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2.49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7.82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3-1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46.26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24.60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17.81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3.56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7.58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전체 카운트 변동폭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5.1%p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2.8배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6].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볼카운트별 정답 구성.  2024 정규시즌 기준, 단위 %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67328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유리한 카운트에서는 유인구를, 불리한 카운트에서는 스트라이크를 요구해 난이도가 상쇄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성공률 변동폭은 5.1%p 뿐인데 실패의 구성은 완전히 달라짐.  리그 축 +3.24  vs  투수 개인 축 +25.50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야구 도메인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도메인 ⑤   등판 내 폼 오프셋</a:t>
            </a:r>
            <a:endParaRPr lang="en-US" sz="2600" dirty="0"/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585216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179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나눔고딕"/>
              </a:rPr>
              <a:t>p′ = p + λ · α · k/(k+K) · ( s/k − p 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938528"/>
            <a:ext cx="585216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139696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k, s      오늘 등판에서 지금까지 던진 공의 수와 그중 성공한 수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k/(k+K)   아직 몇 개 안 던졌으면 믿지 않는다는 뜻의 수축 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배포 상수  λ = 0.72,  K = 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55264"/>
            <a:ext cx="5852160" cy="31089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3284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오늘 던진 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33284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k/(k+150)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3284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반영 강도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33284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해석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20구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0.12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약하게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표본이 적어 거의 안 움직임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3895344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9684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60구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39684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0.29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39684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중간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39684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선발이 3회쯤 돌았을 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4224528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2976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100구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3432" y="42976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8184" y="42976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강하게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42976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오늘 상태가 충분히 드러남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4553712"/>
            <a:ext cx="585216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470916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2A43"/>
                </a:solidFill>
                <a:latin typeface="나눔고딕"/>
              </a:rPr>
              <a:t>오늘이 평소보다 좋으면 위로, 나쁘면 아래로, 다만 표본만큼만 움직입니다.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37160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피로가 아닌 그날 상태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700784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투구 수를 단독으로 넣으면 효과가 0.00 이었습니다.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피로가 아니라 그날의 상태로 판단했습니다.  그 정보는 성공 개수에 이미 들어 있습니다.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56032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07792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오늘 성적 5분위별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811" y="2907792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−0.020 → +0.031 단조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40880" y="3172968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40880" y="3346704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위약 12회  정보만 제거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0811" y="3346704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+0.4 ± 0.6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40880" y="3611880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40880" y="3785616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2024 모의 복원 정확률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0811" y="3785616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99.5 ~ 100%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40880" y="4050792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40880" y="4224528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리더보드 축 단독 기여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811" y="4224528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+14.97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40880" y="4489704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040880" y="4754880"/>
            <a:ext cx="4416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2024 를 가짜 평가셋으로 두고 복원해 보니 오늘 던진 공 수와 성공 수가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99.5 ~ 100% 정확히 맞았습니다.  이 구간이 전체 행의 12.4% 입니다.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76072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9].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오늘 등판의 성적을 표본 수만큼만 반영하는 오프셋의 구조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모델과 앙상블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4종 · 가중 결합 · 보정 11단계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모델과 앙상블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앙상블 아키텍처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601675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[그림 10].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추론 경로.  모델 계층과 보정 계층이 분리되어 있어 보정만 교체할 수 있음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3945635" y="1243584"/>
            <a:ext cx="4297680" cy="402336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2A43"/>
                </a:solidFill>
                <a:latin typeface="나눔고딕"/>
              </a:rPr>
              <a:t>test.csv   48컬럼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1645920"/>
            <a:ext cx="0" cy="219456"/>
          </a:xfrm>
          <a:prstGeom prst="line">
            <a:avLst/>
          </a:prstGeom>
          <a:ln w="15875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945635" y="1865376"/>
            <a:ext cx="4297680" cy="402336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2A43"/>
                </a:solidFill>
                <a:latin typeface="나눔고딕"/>
              </a:rPr>
              <a:t>전처리 · 인코딩 · 파생 피처 78개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4476" y="2267712"/>
            <a:ext cx="0" cy="18288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011680" y="2450592"/>
            <a:ext cx="4082796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11680" y="2450592"/>
            <a:ext cx="0" cy="237744"/>
          </a:xfrm>
          <a:prstGeom prst="line">
            <a:avLst/>
          </a:prstGeom>
          <a:ln w="12700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" y="2688336"/>
            <a:ext cx="2560320" cy="111556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731520" y="2688336"/>
            <a:ext cx="2560319" cy="0"/>
          </a:xfrm>
          <a:prstGeom prst="line">
            <a:avLst/>
          </a:prstGeom>
          <a:ln w="31750">
            <a:solidFill>
              <a:srgbClr val="E86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96112" y="283464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607F"/>
                </a:solidFill>
                <a:latin typeface="나눔고딕"/>
              </a:rPr>
              <a:t>LightGBM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3108960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leaf-wise 성장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3401568"/>
            <a:ext cx="200975" cy="182880"/>
          </a:xfrm>
          <a:prstGeom prst="rect">
            <a:avLst/>
          </a:prstGeom>
          <a:solidFill>
            <a:srgbClr val="E86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96112" y="3621024"/>
            <a:ext cx="22311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나눔고딕"/>
              </a:rPr>
              <a:t>가중치 0.0581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011680" y="3803904"/>
            <a:ext cx="0" cy="256032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11680" y="4059936"/>
            <a:ext cx="4082796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736592" y="2450592"/>
            <a:ext cx="1357884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36592" y="2450592"/>
            <a:ext cx="0" cy="237744"/>
          </a:xfrm>
          <a:prstGeom prst="line">
            <a:avLst/>
          </a:prstGeom>
          <a:ln w="12700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456432" y="2688336"/>
            <a:ext cx="2560320" cy="111556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43" name="Connector 42"/>
          <p:cNvCxnSpPr/>
          <p:nvPr/>
        </p:nvCxnSpPr>
        <p:spPr>
          <a:xfrm>
            <a:off x="3456432" y="2688336"/>
            <a:ext cx="2560320" cy="0"/>
          </a:xfrm>
          <a:prstGeom prst="line">
            <a:avLst/>
          </a:prstGeom>
          <a:ln w="31750">
            <a:solidFill>
              <a:srgbClr val="E86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21024" y="283464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607F"/>
                </a:solidFill>
                <a:latin typeface="나눔고딕"/>
              </a:rPr>
              <a:t>HistGB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1024" y="3108960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256구간 히스토그램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21024" y="3401568"/>
            <a:ext cx="203742" cy="182880"/>
          </a:xfrm>
          <a:prstGeom prst="rect">
            <a:avLst/>
          </a:prstGeom>
          <a:solidFill>
            <a:srgbClr val="E86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621024" y="3621024"/>
            <a:ext cx="22311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나눔고딕"/>
              </a:rPr>
              <a:t>가중치 0.0589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736592" y="3803904"/>
            <a:ext cx="0" cy="256032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36592" y="4059936"/>
            <a:ext cx="1357884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94476" y="2450592"/>
            <a:ext cx="1367028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461504" y="2450592"/>
            <a:ext cx="0" cy="237744"/>
          </a:xfrm>
          <a:prstGeom prst="line">
            <a:avLst/>
          </a:prstGeom>
          <a:ln w="12700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181344" y="2688336"/>
            <a:ext cx="2560320" cy="111556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53" name="Connector 52"/>
          <p:cNvCxnSpPr/>
          <p:nvPr/>
        </p:nvCxnSpPr>
        <p:spPr>
          <a:xfrm>
            <a:off x="6181344" y="2688336"/>
            <a:ext cx="2560319" cy="0"/>
          </a:xfrm>
          <a:prstGeom prst="line">
            <a:avLst/>
          </a:prstGeom>
          <a:ln w="317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45936" y="283464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CatBoost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5936" y="3108960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대칭 트리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45936" y="3401568"/>
            <a:ext cx="2231136" cy="1828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345936" y="3621024"/>
            <a:ext cx="22311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나눔고딕"/>
              </a:rPr>
              <a:t>가중치 0.6450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461504" y="3803904"/>
            <a:ext cx="0" cy="256032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094476" y="4059936"/>
            <a:ext cx="1367028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094476" y="2450592"/>
            <a:ext cx="4091940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86416" y="2450592"/>
            <a:ext cx="0" cy="237744"/>
          </a:xfrm>
          <a:prstGeom prst="line">
            <a:avLst/>
          </a:prstGeom>
          <a:ln w="12700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8906256" y="2688336"/>
            <a:ext cx="2560320" cy="111556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63" name="Connector 62"/>
          <p:cNvCxnSpPr/>
          <p:nvPr/>
        </p:nvCxnSpPr>
        <p:spPr>
          <a:xfrm>
            <a:off x="8906256" y="2688336"/>
            <a:ext cx="2560320" cy="0"/>
          </a:xfrm>
          <a:prstGeom prst="line">
            <a:avLst/>
          </a:prstGeom>
          <a:ln w="3175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070848" y="283464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NN EmbedMLP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70848" y="3108960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ID 임베딩 · 30시드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70848" y="3401568"/>
            <a:ext cx="823271" cy="1828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070848" y="3621024"/>
            <a:ext cx="22311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나눔고딕"/>
              </a:rPr>
              <a:t>가중치 0.2380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186416" y="3803904"/>
            <a:ext cx="0" cy="256032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6094476" y="4059936"/>
            <a:ext cx="4091940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094476" y="4059936"/>
            <a:ext cx="0" cy="219456"/>
          </a:xfrm>
          <a:prstGeom prst="line">
            <a:avLst/>
          </a:prstGeom>
          <a:ln w="15875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3945635" y="4279392"/>
            <a:ext cx="4297680" cy="402336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2A43"/>
                </a:solidFill>
                <a:latin typeface="나눔고딕"/>
              </a:rPr>
              <a:t>확률 공간 가중 합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094476" y="4681728"/>
            <a:ext cx="0" cy="219456"/>
          </a:xfrm>
          <a:prstGeom prst="line">
            <a:avLst/>
          </a:prstGeom>
          <a:ln w="15875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945635" y="4901184"/>
            <a:ext cx="4297680" cy="402336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2A43"/>
                </a:solidFill>
                <a:latin typeface="나눔고딕"/>
              </a:rPr>
              <a:t>보정 11단계   눈금 보정 → 오프셋 → 등판 내 폼 → 잔여 회귀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094476" y="5303520"/>
            <a:ext cx="0" cy="219456"/>
          </a:xfrm>
          <a:prstGeom prst="line">
            <a:avLst/>
          </a:prstGeom>
          <a:ln w="15875">
            <a:solidFill>
              <a:srgbClr val="D9C3C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3945635" y="5522976"/>
            <a:ext cx="4297680" cy="402336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나눔고딕"/>
              </a:rPr>
              <a:t>submission.csv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모델과 앙상블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4종 구성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2560320"/>
                <a:gridCol w="3657600"/>
                <a:gridCol w="1097280"/>
                <a:gridCol w="167335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성장 방식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원래 설계 용도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역할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가중치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CatBoost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대칭 (oblivious) 트리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범주형 다수 · 타깃 누수 방지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0.6450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NN EmbedMLP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임베딩 + MLP  30시드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범주형을 학습되는 밀집 벡터로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다양성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0.2380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HistGB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히스토그램 256구간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대용량에서 분할 후보 축소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0.0589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LightGBM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leaf-wise 성장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속도 · 메모리 최적화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0.0581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7].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모델별 설계 의도와 최종 블렌드 가중치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67328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학습률은 셋 다 0.01 근처.  판별력 여지가 작아 크게 움직이면 곧바로 과적합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가중치는 배포 script.py 에서 읽은 실제 값.  리더보드 5점으로 이차 역산해 확정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모델과 앙상블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4종 결합 근거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① 단독 성능 1위   CatBoost   (2024 검증 BSS)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CatBoost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755648"/>
            <a:ext cx="3750868" cy="32918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91148" y="181051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879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HistGB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249424"/>
            <a:ext cx="3290011" cy="329184"/>
          </a:xfrm>
          <a:prstGeom prst="rect">
            <a:avLst/>
          </a:prstGeom>
          <a:solidFill>
            <a:srgbClr val="E86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30291" y="230428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771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980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LightGBM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743200"/>
            <a:ext cx="3072384" cy="329184"/>
          </a:xfrm>
          <a:prstGeom prst="rect">
            <a:avLst/>
          </a:prstGeom>
          <a:solidFill>
            <a:srgbClr val="F09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12664" y="279806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나눔고딕"/>
              </a:rPr>
              <a:t>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467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② CatBoost 가중 확대 시 점수 하락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3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CatBoost 비중 0.645 → 0.85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3712463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리더보드  −7.59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977639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151375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모델 수준 변경 리더보드 전적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4151375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2승 7패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416551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590288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나눔고딕"/>
              </a:rPr>
              <a:t>이긴 두 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4590288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50034"/>
                </a:solidFill>
                <a:latin typeface="나눔고딕"/>
              </a:rPr>
              <a:t>둘 다 가중치 미세 조정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4855464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" y="5120640"/>
            <a:ext cx="5669280" cy="0"/>
          </a:xfrm>
          <a:prstGeom prst="line">
            <a:avLst/>
          </a:prstGeom>
          <a:ln w="190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035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50034"/>
                </a:solidFill>
                <a:latin typeface="나눔고딕"/>
              </a:rPr>
              <a:t>센 모델을 더 믿는 것이 곧 점수가 되지는 않았습니다.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37160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③ 최종 기준   오차가 겹치지 않는 조합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737360"/>
            <a:ext cx="2848676" cy="43891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나눔고딕"/>
              </a:rPr>
              <a:t>CatBoost .6450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89556" y="1737360"/>
            <a:ext cx="1051139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나눔고딕"/>
              </a:rPr>
              <a:t>NN .2380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40695" y="1737360"/>
            <a:ext cx="260134" cy="438912"/>
          </a:xfrm>
          <a:prstGeom prst="rect">
            <a:avLst/>
          </a:prstGeom>
          <a:solidFill>
            <a:srgbClr val="E86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200830" y="1737360"/>
            <a:ext cx="256601" cy="438912"/>
          </a:xfrm>
          <a:prstGeom prst="rect">
            <a:avLst/>
          </a:prstGeom>
          <a:solidFill>
            <a:srgbClr val="F09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40880" y="2267712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02A43"/>
                </a:solidFill>
                <a:latin typeface="나눔고딕"/>
              </a:rPr>
              <a:t>오른쪽 끝 두 칸   HistGB .0589  ·  LightGBM .0581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670048"/>
            <a:ext cx="4416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트리는 축을 잘라 나누고 NN 은 임베딩 공간에서 섞습니다.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표현이 달라 틀리는 지점이 겹치지 않는 것으로 봤습니다.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47472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다양성과 기여의 실측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822191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NN 시드 1개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0811" y="3822191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블렌드 기여  −11.02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40880" y="4087368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40880" y="4242816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NN 시드 30개 평균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0811" y="4242816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블렌드 기여  +4.45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40880" y="4507992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40880" y="4663440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NN 에 GBT 파생 피처 투입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0811" y="4663440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+80.63  →  −28.65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40880" y="4928616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40880" y="5084064"/>
            <a:ext cx="26499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나눔고딕"/>
              </a:rPr>
              <a:t>CatBoost → Depthwise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0811" y="5084064"/>
            <a:ext cx="17666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50034"/>
                </a:solidFill>
                <a:latin typeface="나눔고딕"/>
              </a:rPr>
              <a:t>−52.62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40880" y="5349240"/>
            <a:ext cx="441655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520" y="585216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11].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단독 성능, 최종 가중치, 그리고 다양성이 기여를 만든다는 실측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모델과 앙상블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보정 계층 (Calibration)   블렌드 이후 11단계</a:t>
            </a: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600200" cy="56692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나눔고딕"/>
              </a:rPr>
              <a:t>블렌드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848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68296" y="1682496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551176" y="1463040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확률 눈금 보정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20848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87952" y="1682496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70832" y="1463040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기저율 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0848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1682496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190488" y="1463040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확률 확산 s ·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0848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3" y="1682496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10144" y="1463040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확산 곡률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20848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46920" y="1682496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829800" y="1463040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볼카운트 λ 0.500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0848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88336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상황 λ 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1012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07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368296" y="2907792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2551176" y="2688336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투수 × 상황 λ 1.080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1176" y="331012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08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87952" y="2907792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70832" y="2688336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투수 절편 λ 0.295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331012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09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07608" y="2907792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90488" y="2688336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월 추세 λ 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331012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10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27263" y="2907792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10144" y="2688336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등판 내 폼 λ 0.72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31012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11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646920" y="2907792"/>
            <a:ext cx="146304" cy="128016"/>
          </a:xfrm>
          <a:prstGeom prst="rightArrow">
            <a:avLst/>
          </a:prstGeom>
          <a:solidFill>
            <a:srgbClr val="D9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829800" y="2688336"/>
            <a:ext cx="1600200" cy="566928"/>
          </a:xfrm>
          <a:prstGeom prst="rect">
            <a:avLst/>
          </a:prstGeom>
          <a:noFill/>
          <a:ln w="9525">
            <a:solidFill>
              <a:srgbClr val="D9C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02A43"/>
                </a:solidFill>
                <a:latin typeface="나눔고딕"/>
              </a:rPr>
              <a:t>잔여 회귀 η 0.182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31012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059936"/>
            <a:ext cx="10725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이 계층을 따로 떼어놓은 이유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40740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모델 재학습 없는 점수 이동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416552"/>
            <a:ext cx="6336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보정만 교체하면 다시 학습할 필요가 없습니다.  1108.88 이후 +74.76 이 전부 여기서 나왔습니다.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4718304"/>
            <a:ext cx="1072591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1520" y="486460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단계마다 스칼라 하나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873752"/>
            <a:ext cx="6336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한 번에 숫자 하나만 움직이므로 제출 하나가 정확히 한 축의 정보를 줍니다.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1520" y="5175504"/>
            <a:ext cx="1072591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1520" y="532180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순서 변경 시 이후 단계 전부 이동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330952"/>
            <a:ext cx="6336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앞 단계가 확률의 위치를 바꾸면 뒤 단계의 최적값도 같이 이동합니다.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" y="5632704"/>
            <a:ext cx="1072591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1520" y="5888736"/>
            <a:ext cx="10725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02A43"/>
                </a:solidFill>
                <a:latin typeface="나눔고딕"/>
              </a:rPr>
              <a:t>코드명 대응   확률 눈금 보정 = Platt,   확률 확산 = sharpness,   투수 × 상황 = pslope,   투수 절편 = pint,   잔여 회귀 = zreg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163056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12].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블렌드 이후 확률 보정 11단계의 실행 순서와 배포 상수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실험과 리더보드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고친 것 · 리더보드 활용 · 점수의 출처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실험과 리더보드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틀렸다가 고친 것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072384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286207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처음 생각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실제 결과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수정 방향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피처로 실패하면 끝이다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절편이 학습 피처로는 −113, 사후 오프셋으로는 +1.16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넣는 자리를 바꿔 재시도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자동 탐색이 사람보다 낫다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재탐색 결과를 배포했더니  997 → 994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되돌리고 수동 고정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데이터는 많을수록 좋다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2019 · 2020 추가.  검증은 좋은데 리더보드 −3.02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최근 네 시즌만 사용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좋아 보이면 채택한다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보정 전 +5.23 이던 피처가 보정 후 −0.90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평균 보정 후에만 판정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상승폭이 크면 진짜다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+15.47 인데 정보를 없앤 대조군도 +8.98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위약 12회 통과를 필수로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정보가 있으면 쓸 수 있다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Trackman 오라클 +171 인데 실현은 −0.68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상한부터 재고 작으면 포기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센 모델을 더 믿자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CatBoost 비중 0.85 로 올렸더니 −7.59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가중치는 리더보드 실측으로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8].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실험 도중 판단이 뒤집힌 일곱 가지와 그 이후에 세운 규칙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19472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일곱 개 전부 당연해 보였는데 실측이 반대로 나온 경우.  이 기록으로 다음 후보의 우선순위를 정했음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실험과 리더보드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Trackman 링크 실험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072384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1188720"/>
                <a:gridCol w="914400"/>
                <a:gridCol w="359359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만든 것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커버리지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판정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결과와 기각 사유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구종 프로필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× 상황별 구종 배합 8피처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52.6%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B07A1E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△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+0.51.  32방향 중 유일한 비음수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구종 프로필 확장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링크 규칙 완화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66.8%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−0.68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구종 프로필 전체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매핑만으로 확대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97.1%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−2.85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배포 후보 v2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위 축을 배포본에 얹음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링크된 행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리더보드 −6.28.  구종 축 종료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구종별 성공률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투수마다 구종별 제구 성공률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링크된 행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−75.61.  사실상 타깃 인코딩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물리량 12종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릴리스 · 구속 · 무브먼트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잔차 상관 상한 0.80.  기각선 2.5 의 1/3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그날 폼 이탈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오늘의 평소 대비 구속 · 릴리스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 b="1">
                          <a:solidFill>
                            <a:srgbClr val="C0282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Trackman 이 없고 명세상 금지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9].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Trackman 활용 시도 일곱 가지.   △ 유일한 비음수지만 배포 미반영,   ✕ 기각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19472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커버리지를 넓힐수록 나빠짐  (52.6 → 66.8 → 97.1%,   +0.51 → −0.68 → −2.85).  양보다 정합성이 우선이라고 판단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asof 의 구종군 분류가 trackman 의 구종군과 사실상 같음.  주최가 이미 가치를 뽑아 공식 피처로 제공한 것으로 판단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실험과 리더보드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리더보드 활용   Brier 이차성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Brier   보정 파라미터의 정확한 이차식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00784"/>
            <a:ext cx="566928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865376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onsolas"/>
              </a:rPr>
              <a:t>p′ = p + λ·d   로 확률을 옮기면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onsolas"/>
              </a:rPr>
              <a:t>ΔBSS(λ) = g·λ − A·λ²      →      λ* = g / (2A)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578608"/>
            <a:ext cx="5669280" cy="0"/>
          </a:xfrm>
          <a:prstGeom prst="line">
            <a:avLst/>
          </a:prstGeom>
          <a:ln w="12700">
            <a:solidFill>
              <a:srgbClr val="102A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7432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미지수가 둘뿐이라 제출 3점이면 꼭짓점이 확정됩니다.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나눔고딕"/>
              </a:rPr>
              <a:t>리더보드에 던진 것은 언제나 스칼라 하이퍼파라미터 하나였습니다.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실제 사례   등판 내 폼 계수 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85615"/>
            <a:ext cx="5669280" cy="31089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858768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제출한 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58768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리더보드 실측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858768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나눔고딕"/>
              </a:rPr>
              <a:t>읽어낸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60520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1167.27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160520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기준점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407408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47141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7141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1177.75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7141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g = 32.2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718304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782312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782312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나눔고딕"/>
              </a:rPr>
              <a:t>1177.00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82312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A = 22.5  →  λ* = 0.72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029200"/>
            <a:ext cx="5669280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" y="5120640"/>
            <a:ext cx="5669280" cy="0"/>
          </a:xfrm>
          <a:prstGeom prst="line">
            <a:avLst/>
          </a:prstGeom>
          <a:ln w="19050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285232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50034"/>
                </a:solidFill>
                <a:latin typeface="나눔고딕"/>
              </a:rPr>
              <a:t>예측 1178.8  →  실측 1178.88   (오차 0.08)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1441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2A43"/>
                </a:solidFill>
                <a:latin typeface="나눔고딕"/>
              </a:rPr>
              <a:t>3점 이상 모은 7건은 최대 오차 0.08 로 전부 적중, 3점 미달 2건은 빗나감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03720" y="5074920"/>
            <a:ext cx="4526280" cy="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03720" y="1783080"/>
            <a:ext cx="0" cy="329184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03720" y="4221426"/>
            <a:ext cx="113157" cy="22029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16877" y="4012578"/>
            <a:ext cx="113156" cy="20884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30033" y="3815180"/>
            <a:ext cx="113158" cy="19739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43191" y="3629233"/>
            <a:ext cx="113157" cy="185947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56348" y="3454736"/>
            <a:ext cx="113156" cy="174497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69504" y="3291689"/>
            <a:ext cx="113158" cy="163047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82662" y="3140093"/>
            <a:ext cx="113157" cy="151596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695819" y="2999947"/>
            <a:ext cx="113156" cy="140146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808975" y="2871251"/>
            <a:ext cx="113158" cy="128696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922133" y="2754006"/>
            <a:ext cx="113157" cy="11724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035290" y="2648211"/>
            <a:ext cx="113156" cy="10579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148446" y="2553866"/>
            <a:ext cx="113158" cy="9434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261604" y="2470972"/>
            <a:ext cx="113157" cy="82894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374761" y="2399528"/>
            <a:ext cx="113157" cy="71444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87918" y="2339534"/>
            <a:ext cx="113157" cy="59994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601075" y="2290991"/>
            <a:ext cx="113157" cy="4854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714232" y="2253898"/>
            <a:ext cx="113157" cy="3709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827389" y="2228255"/>
            <a:ext cx="113157" cy="2564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940546" y="2214063"/>
            <a:ext cx="113157" cy="1419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053703" y="2211321"/>
            <a:ext cx="113157" cy="274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6860" y="2211321"/>
            <a:ext cx="113157" cy="8709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80017" y="2220030"/>
            <a:ext cx="113157" cy="2015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93174" y="2240188"/>
            <a:ext cx="113157" cy="31609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506331" y="2271797"/>
            <a:ext cx="113157" cy="43060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19488" y="2314857"/>
            <a:ext cx="113157" cy="54510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732645" y="2369367"/>
            <a:ext cx="113157" cy="65960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845802" y="2435327"/>
            <a:ext cx="113157" cy="77410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958959" y="2512737"/>
            <a:ext cx="113157" cy="88861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072116" y="2601598"/>
            <a:ext cx="113157" cy="100311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85273" y="2701909"/>
            <a:ext cx="113157" cy="111761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98430" y="2813670"/>
            <a:ext cx="113157" cy="12321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11587" y="2936882"/>
            <a:ext cx="113157" cy="13466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524744" y="3071544"/>
            <a:ext cx="113157" cy="14611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37901" y="3217657"/>
            <a:ext cx="113157" cy="15756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751058" y="3375220"/>
            <a:ext cx="113157" cy="16901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864215" y="3544233"/>
            <a:ext cx="113157" cy="180463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977372" y="3724696"/>
            <a:ext cx="113157" cy="191914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090529" y="3916610"/>
            <a:ext cx="113157" cy="203364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203686" y="4119974"/>
            <a:ext cx="113156" cy="21481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316842" y="4334789"/>
            <a:ext cx="113158" cy="22626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6844283" y="4382288"/>
            <a:ext cx="118872" cy="118872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355080" y="414911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02A43"/>
                </a:solidFill>
                <a:latin typeface="나눔고딕"/>
              </a:rPr>
              <a:t>1167.27</a:t>
            </a:r>
          </a:p>
        </p:txBody>
      </p:sp>
      <p:sp>
        <p:nvSpPr>
          <p:cNvPr id="73" name="Oval 72"/>
          <p:cNvSpPr/>
          <p:nvPr/>
        </p:nvSpPr>
        <p:spPr>
          <a:xfrm>
            <a:off x="8405070" y="2352966"/>
            <a:ext cx="118872" cy="118872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915866" y="211979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02A43"/>
                </a:solidFill>
                <a:latin typeface="나눔고딕"/>
              </a:rPr>
              <a:t>1177.75</a:t>
            </a:r>
          </a:p>
        </p:txBody>
      </p:sp>
      <p:sp>
        <p:nvSpPr>
          <p:cNvPr id="75" name="Oval 74"/>
          <p:cNvSpPr/>
          <p:nvPr/>
        </p:nvSpPr>
        <p:spPr>
          <a:xfrm>
            <a:off x="9965856" y="2498194"/>
            <a:ext cx="118872" cy="118872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476652" y="226502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02A43"/>
                </a:solidFill>
                <a:latin typeface="나눔고딕"/>
              </a:rPr>
              <a:t>1177.00</a:t>
            </a:r>
          </a:p>
        </p:txBody>
      </p:sp>
      <p:sp>
        <p:nvSpPr>
          <p:cNvPr id="77" name="Oval 76"/>
          <p:cNvSpPr/>
          <p:nvPr/>
        </p:nvSpPr>
        <p:spPr>
          <a:xfrm>
            <a:off x="9078100" y="2120439"/>
            <a:ext cx="146304" cy="146304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cxnSp>
        <p:nvCxnSpPr>
          <p:cNvPr id="78" name="Connector 77"/>
          <p:cNvCxnSpPr/>
          <p:nvPr/>
        </p:nvCxnSpPr>
        <p:spPr>
          <a:xfrm>
            <a:off x="9151252" y="2193591"/>
            <a:ext cx="0" cy="2881329"/>
          </a:xfrm>
          <a:prstGeom prst="line">
            <a:avLst/>
          </a:prstGeom>
          <a:ln w="9525">
            <a:solidFill>
              <a:srgbClr val="A5003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419732" y="18644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A50034"/>
                </a:solidFill>
                <a:latin typeface="나눔고딕"/>
              </a:rPr>
              <a:t>λ* = 0.72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148072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02A43"/>
                </a:solidFill>
                <a:latin typeface="나눔고딕"/>
              </a:rPr>
              <a:t>λ  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0" y="15087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나눔고딕"/>
              </a:rPr>
              <a:t>BSS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03720" y="53583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실패한 제출의 하방 손실은 0 이고 슬롯만 씁니다. 떨어진 세 제출이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02A43"/>
                </a:solidFill>
                <a:latin typeface="나눔고딕"/>
              </a:rPr>
              <a:t>곡률을 알려줘 뒤의 두 제출을 정확히 겨냥할 수 있었습니다.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03504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13].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제출 세 점으로 최적값을 역산하는 절차와 실제 적용 결과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실험과 리더보드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+74.76 의 구성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725912" cy="3456432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  <a:gridCol w="2313432"/>
              </a:tblGrid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구성 요소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무엇을 한 것인가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기여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보정 6축 + 투수 축 2종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리그 · 상황 · 투수 수준의 남은 오차를 사후에 더함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+56.38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등판 내 폼 오프셋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오늘 등판의 투구 수와 성공 수를 복원해 반영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+14.97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월 추세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0" dirty="0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시즌 진행에 따른 완만한 이동을 한 계수로 보정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+1.33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× 상황 배분비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투수 × 상황 오프셋의 배분 비율 재조정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+0.77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잔여 회귀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복원이 안 되는 구간의 잔여 기대값을 회귀로 메움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+0.63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앙상블 가중치 보간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 학습된 네 출력의 결합 비율만 조정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+0.385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확산 곡률 항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0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확률을 퍼뜨리는 정도의 곡률 항 추가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A5003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+0.284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102A4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리더보드  1108.88  →  1183.64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ctr" lIns="82296" rIns="82296"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 b="1">
                          <a:solidFill>
                            <a:srgbClr val="22303C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+74.76</a:t>
                      </a:r>
                      <a:endParaRPr lang="en-US" sz="11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128016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b="1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 10].</a:t>
            </a:r>
            <a:r>
              <a:rPr lang="en-US" sz="1000" dirty="0" b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1108.88 이후 상승분의 구성.  이 구간에서 모델 재학습은 0회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0352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GBT 3종과 NN 30시드는 2026-08-19 이후 다시 학습하지 않음.  전부 이미 학습된 확률을 사후에 고친 작업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실험과 리더보드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리더보드 궤적</a:t>
            </a:r>
            <a:endParaRPr lang="en-US" sz="2600" dirty="0"/>
          </a:p>
        </p:txBody>
      </p:sp>
      <p:cxnSp>
        <p:nvCxnSpPr>
          <p:cNvPr id="4" name="Connector 3"/>
          <p:cNvCxnSpPr/>
          <p:nvPr/>
        </p:nvCxnSpPr>
        <p:spPr>
          <a:xfrm>
            <a:off x="1417320" y="4216543"/>
            <a:ext cx="9692640" cy="0"/>
          </a:xfrm>
          <a:prstGeom prst="line">
            <a:avLst/>
          </a:prstGeom>
          <a:ln w="9525">
            <a:solidFill>
              <a:srgbClr val="E9EE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4125103"/>
            <a:ext cx="594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02A43"/>
                </a:solidFill>
                <a:latin typeface="나눔고딕"/>
              </a:rPr>
              <a:t>600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3327900"/>
            <a:ext cx="9692640" cy="0"/>
          </a:xfrm>
          <a:prstGeom prst="line">
            <a:avLst/>
          </a:prstGeom>
          <a:ln w="9525">
            <a:solidFill>
              <a:srgbClr val="E9EE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23646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02A43"/>
                </a:solidFill>
                <a:latin typeface="나눔고딕"/>
              </a:rPr>
              <a:t>800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2439258"/>
            <a:ext cx="9692640" cy="0"/>
          </a:xfrm>
          <a:prstGeom prst="line">
            <a:avLst/>
          </a:prstGeom>
          <a:ln w="9525">
            <a:solidFill>
              <a:srgbClr val="E9EE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47818"/>
            <a:ext cx="594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02A43"/>
                </a:solidFill>
                <a:latin typeface="나눔고딕"/>
              </a:rPr>
              <a:t>1000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1550616"/>
            <a:ext cx="9692640" cy="0"/>
          </a:xfrm>
          <a:prstGeom prst="line">
            <a:avLst/>
          </a:prstGeom>
          <a:ln w="9525">
            <a:solidFill>
              <a:srgbClr val="E9EE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59176"/>
            <a:ext cx="594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02A43"/>
                </a:solidFill>
                <a:latin typeface="나눔고딕"/>
              </a:rPr>
              <a:t>1200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1417320"/>
            <a:ext cx="0" cy="3154680"/>
          </a:xfrm>
          <a:prstGeom prst="line">
            <a:avLst/>
          </a:prstGeom>
          <a:ln w="1270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3212377"/>
            <a:ext cx="605790" cy="117300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23110" y="2682968"/>
            <a:ext cx="605790" cy="529409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28900" y="2608367"/>
            <a:ext cx="605789" cy="74601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234689" y="2545895"/>
            <a:ext cx="605791" cy="6247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40480" y="2452588"/>
            <a:ext cx="605790" cy="93307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46270" y="2452588"/>
            <a:ext cx="605789" cy="13329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52059" y="2413043"/>
            <a:ext cx="605791" cy="52874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57850" y="2199325"/>
            <a:ext cx="605790" cy="21371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263640" y="2154893"/>
            <a:ext cx="605789" cy="4443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69429" y="2097131"/>
            <a:ext cx="605791" cy="57762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75220" y="2090066"/>
            <a:ext cx="605790" cy="706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081010" y="2052699"/>
            <a:ext cx="605790" cy="37367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686800" y="2026039"/>
            <a:ext cx="605790" cy="26660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92590" y="1955481"/>
            <a:ext cx="605790" cy="70558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898380" y="1696042"/>
            <a:ext cx="605790" cy="259439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504170" y="1623307"/>
            <a:ext cx="605790" cy="72735"/>
          </a:xfrm>
          <a:prstGeom prst="line">
            <a:avLst/>
          </a:prstGeom>
          <a:ln w="22225">
            <a:solidFill>
              <a:srgbClr val="A500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371600" y="4339665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0" name="Oval 29"/>
          <p:cNvSpPr/>
          <p:nvPr/>
        </p:nvSpPr>
        <p:spPr>
          <a:xfrm>
            <a:off x="1977390" y="3166657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1" name="Oval 30"/>
          <p:cNvSpPr/>
          <p:nvPr/>
        </p:nvSpPr>
        <p:spPr>
          <a:xfrm>
            <a:off x="2583180" y="2637248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2" name="Oval 31"/>
          <p:cNvSpPr/>
          <p:nvPr/>
        </p:nvSpPr>
        <p:spPr>
          <a:xfrm>
            <a:off x="3188970" y="2562647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3" name="Oval 32"/>
          <p:cNvSpPr/>
          <p:nvPr/>
        </p:nvSpPr>
        <p:spPr>
          <a:xfrm>
            <a:off x="3794760" y="2500175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4" name="Oval 33"/>
          <p:cNvSpPr/>
          <p:nvPr/>
        </p:nvSpPr>
        <p:spPr>
          <a:xfrm>
            <a:off x="4400550" y="2406868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5" name="Oval 34"/>
          <p:cNvSpPr/>
          <p:nvPr/>
        </p:nvSpPr>
        <p:spPr>
          <a:xfrm>
            <a:off x="5006340" y="2420197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6" name="Oval 35"/>
          <p:cNvSpPr/>
          <p:nvPr/>
        </p:nvSpPr>
        <p:spPr>
          <a:xfrm>
            <a:off x="5612130" y="2367323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7" name="Oval 36"/>
          <p:cNvSpPr/>
          <p:nvPr/>
        </p:nvSpPr>
        <p:spPr>
          <a:xfrm>
            <a:off x="6217920" y="2153605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8" name="Oval 37"/>
          <p:cNvSpPr/>
          <p:nvPr/>
        </p:nvSpPr>
        <p:spPr>
          <a:xfrm>
            <a:off x="6823709" y="2109173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39" name="Oval 38"/>
          <p:cNvSpPr/>
          <p:nvPr/>
        </p:nvSpPr>
        <p:spPr>
          <a:xfrm>
            <a:off x="7429500" y="2051411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0" name="Oval 39"/>
          <p:cNvSpPr/>
          <p:nvPr/>
        </p:nvSpPr>
        <p:spPr>
          <a:xfrm>
            <a:off x="8035290" y="2044346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1" name="Oval 40"/>
          <p:cNvSpPr/>
          <p:nvPr/>
        </p:nvSpPr>
        <p:spPr>
          <a:xfrm>
            <a:off x="8641080" y="2006979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2" name="Oval 41"/>
          <p:cNvSpPr/>
          <p:nvPr/>
        </p:nvSpPr>
        <p:spPr>
          <a:xfrm>
            <a:off x="9246869" y="1980319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3" name="Oval 42"/>
          <p:cNvSpPr/>
          <p:nvPr/>
        </p:nvSpPr>
        <p:spPr>
          <a:xfrm>
            <a:off x="9852660" y="1909761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4" name="Oval 43"/>
          <p:cNvSpPr/>
          <p:nvPr/>
        </p:nvSpPr>
        <p:spPr>
          <a:xfrm>
            <a:off x="10458450" y="1650322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5" name="Oval 44"/>
          <p:cNvSpPr/>
          <p:nvPr/>
        </p:nvSpPr>
        <p:spPr>
          <a:xfrm>
            <a:off x="11064240" y="1577587"/>
            <a:ext cx="91440" cy="9144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1520" y="4495113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02A43"/>
                </a:solidFill>
                <a:latin typeface="나눔고딕"/>
              </a:rPr>
              <a:t>첫 제출  562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9059" y="2758525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02A43"/>
                </a:solidFill>
                <a:latin typeface="나눔고딕"/>
              </a:rPr>
              <a:t>997 → 994</a:t>
            </a:r>
          </a:p>
          <a:p>
            <a:pPr algn="ctr"/>
            <a:r>
              <a:rPr sz="850" b="1">
                <a:solidFill>
                  <a:srgbClr val="102A43"/>
                </a:solidFill>
                <a:latin typeface="나눔고딕"/>
              </a:rPr>
              <a:t>자동 재탐색 후 하락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1705549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1054  YTD 역분해 +45.64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5380" y="2248089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02A43"/>
                </a:solidFill>
                <a:latin typeface="나눔고딕"/>
              </a:rPr>
              <a:t>1108.88</a:t>
            </a:r>
          </a:p>
          <a:p>
            <a:pPr algn="ctr"/>
            <a:r>
              <a:rPr sz="850" b="1">
                <a:solidFill>
                  <a:srgbClr val="102A43"/>
                </a:solidFill>
                <a:latin typeface="나눔고딕"/>
              </a:rPr>
              <a:t>모델 학습 종료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1432" y="1348987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A50034"/>
                </a:solidFill>
                <a:latin typeface="나눔고딕"/>
              </a:rPr>
              <a:t>최종 1183.64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73168"/>
            <a:ext cx="10725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50034"/>
                </a:solidFill>
                <a:latin typeface="나눔고딕"/>
              </a:rPr>
              <a:t>궤적 해석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02920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A50034"/>
                </a:solidFill>
                <a:latin typeface="나눔고딕"/>
              </a:rPr>
              <a:t>1108.88 이후 +74.76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5038344"/>
            <a:ext cx="77083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모델 재학습 기여 0.  전부 보정 계층과 복원 피처에서 나온 상승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5303520"/>
            <a:ext cx="1072591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53858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A50034"/>
                </a:solidFill>
                <a:latin typeface="나눔고딕"/>
              </a:rPr>
              <a:t>997 → 994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5394959"/>
            <a:ext cx="77083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자동 하이퍼파라미터 재탐색 결과를 배포했다가 떨어져 되돌린 구간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1520" y="5660136"/>
            <a:ext cx="1072591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31520" y="574243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A50034"/>
                </a:solidFill>
                <a:latin typeface="나눔고딕"/>
              </a:rPr>
              <a:t>1167.27 → 1183.64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9039" y="5751576"/>
            <a:ext cx="77083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나눔고딕"/>
              </a:rPr>
              <a:t>사흘 동안 제출 슬롯 17개로 등판 내 폼 축 하나를 끝까지 밀어붙인 구간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31520" y="6016752"/>
            <a:ext cx="10725912" cy="0"/>
          </a:xfrm>
          <a:prstGeom prst="line">
            <a:avLst/>
          </a:prstGeom>
          <a:ln w="6350">
            <a:solidFill>
              <a:srgbClr val="D9C3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31520" y="6126480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02A43"/>
                </a:solidFill>
                <a:latin typeface="나눔고딕"/>
              </a:rPr>
              <a:t>[그림 14].</a:t>
            </a:r>
            <a:r>
              <a:rPr sz="900" b="0">
                <a:solidFill>
                  <a:srgbClr val="102A43"/>
                </a:solidFill>
                <a:latin typeface="나눔고딕"/>
              </a:rPr>
              <a:t>  Phase 2 리더보드 점수 추이와 각 구간의 원인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실험과 리더보드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2 결과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점수보다 그 점수가 어디서 왔는지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55648"/>
            <a:ext cx="3210458" cy="0"/>
          </a:xfrm>
          <a:prstGeom prst="line">
            <a:avLst/>
          </a:prstGeom>
          <a:noFill/>
          <a:ln w="15875">
            <a:solidFill>
              <a:srgbClr val="10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3210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Private 1183.64482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79776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45개 선발팀 가운데 18위로 Phase 3 진출. Public 과 Private 가 같은 test 전량 채점이라 셰이크업이 없는 구조였습니다.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90618" y="1755648"/>
            <a:ext cx="3210458" cy="0"/>
          </a:xfrm>
          <a:prstGeom prst="line">
            <a:avLst/>
          </a:prstGeom>
          <a:noFill/>
          <a:ln w="15875">
            <a:solidFill>
              <a:srgbClr val="102A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0618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90618" y="2377440"/>
            <a:ext cx="3210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+74.76 을 모델 없이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0618" y="2779776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1108.88 이후 상승분 전체가 보정 계층과 복원 피처에서 나왔습니다. 그 기간 GBT 3종과 NN 30시드는 다시 학습하지 않았습니다.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9717" y="1755648"/>
            <a:ext cx="3210458" cy="0"/>
          </a:xfrm>
          <a:prstGeom prst="line">
            <a:avLst/>
          </a:prstGeom>
          <a:noFill/>
          <a:ln w="15875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9717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49717" y="2377440"/>
            <a:ext cx="3210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예측 7전 7승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49717" y="2779776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제출 3점으로 꼭짓점을 역산해 미리 적어둔 점수가 최대 오차 0.08 로 맞았습니다. 곡선 맞추기가 아니라 구조를 측정한 결과라고 판단했습니다.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15968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남은 격차를 우리가 놓친 신호라고 단정하지는 않습니다. 다만 어떤 축을 어디까지 재고 어디서 멈췄는지는 전부 기록으로 남아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607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502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 · 남은 과제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6B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결론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13232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결론과 남은 과제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교체가 아니라 데이터와 지표를 읽는 접근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556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우리가 한 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39696"/>
            <a:ext cx="4937760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22576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평가식을 분해해 판별력이 병목이라고 판단하고 방향을 정함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48컬럼과 Trackman 30컬럼을 전수 확인하고 사용 여부를 판정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야구 가설을 표로 관리해 채택 7건과 기각 7건을 수치로 기록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축정렬 분할이 만들지 못하는 복원 피처만 선별해 투입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구조가 다른 4종을 결합하고 제출 3점 적합으로 보정 상수를 확정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55648"/>
            <a:ext cx="4967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남은 과제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967935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322576"/>
            <a:ext cx="49679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등판 순번 계수 α₁ 은 재적합하지 않고 남김.  재검정 결과가 갈렸음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잔여 회귀(zreg) 는 학습과 배포의 입력이 미세하게 다름.  확률 차이 0.01 초과 행은 0%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보정 계수 네 개의 개별 최적성 미확정.  남은 이득은 0.1 미만으로 추정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Trackman 은 32방향 중 1건만 비음수.  asof 구종군에 가치가 이미 흡수돼 있었음</a:t>
            </a:r>
            <a:endParaRPr lang="en-US" sz="1300" dirty="0"/>
          </a:p>
          <a:p>
            <a:pPr algn="l"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포수 정보를 대신할 대리 변수는 끝내 못 찾음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55648"/>
            <a:ext cx="0" cy="256032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892040"/>
            <a:ext cx="10728655" cy="0"/>
          </a:xfrm>
          <a:prstGeom prst="line">
            <a:avLst/>
          </a:prstGeom>
          <a:noFill/>
          <a:ln w="9525">
            <a:solidFill>
              <a:srgbClr val="DCE2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 기준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5838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자료의 실측값은 fold4(2019~2023 학습, 2024 검증) 와 fold2022 를 기준으로 하며 모두 평균 보정 후 값입니다. 리더보드 값은 Phase 2 제출 실측입니다.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0" y="2907792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7856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C3C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질의응답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OS Lab">
  <a:themeElements>
    <a:clrScheme name="CSOS Lab">
      <a:dk1>
        <a:srgbClr val="22303C"/>
      </a:dk1>
      <a:lt1>
        <a:srgbClr val="FFFFFF"/>
      </a:lt1>
      <a:dk2>
        <a:srgbClr val="102A43"/>
      </a:dk2>
      <a:lt2>
        <a:srgbClr val="F2F5F8"/>
      </a:lt2>
      <a:accent1>
        <a:srgbClr val="102A43"/>
      </a:accent1>
      <a:accent2>
        <a:srgbClr val="0A559C"/>
      </a:accent2>
      <a:accent3>
        <a:srgbClr val="5B8DBE"/>
      </a:accent3>
      <a:accent4>
        <a:srgbClr val="9FBCD8"/>
      </a:accent4>
      <a:accent5>
        <a:srgbClr val="6B7785"/>
      </a:accent5>
      <a:accent6>
        <a:srgbClr val="DCE2E9"/>
      </a:accent6>
      <a:hlink>
        <a:srgbClr val="0A559C"/>
      </a:hlink>
      <a:folHlink>
        <a:srgbClr val="5B8DBE"/>
      </a:folHlink>
    </a:clrScheme>
    <a:fontScheme name="CSOS Lab">
      <a:majorFont>
        <a:latin typeface="나눔고딕"/>
        <a:ea typeface="나눔고딕"/>
        <a:cs typeface=""/>
        <a:font script="Hang" typeface="나눔고딕"/>
      </a:majorFont>
      <a:minorFont>
        <a:latin typeface="나눔고딕"/>
        <a:ea typeface="나눔고딕"/>
        <a:cs typeface=""/>
        <a:font script="Hang" typeface="나눔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CSOS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CSOS Lab 발표자료 템플릿</dc:title>
  <dc:subject>PptxGenJS Presentation</dc:subject>
  <dc:creator>CSOS Lab, Dankook University</dc:creator>
  <cp:lastModifiedBy>CSOS Lab, Dankook University</cp:lastModifiedBy>
  <cp:revision>1</cp:revision>
  <dcterms:created xsi:type="dcterms:W3CDTF">2026-08-27T10:43:02Z</dcterms:created>
  <dcterms:modified xsi:type="dcterms:W3CDTF">2026-08-27T10:43:02Z</dcterms:modified>
</cp:coreProperties>
</file>